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6202B"/>
                </a:solidFill>
                <a:latin typeface="Calibri"/>
              </a:rPr>
              <a:t>Split of a tuned-threshold gain of +26 days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Days of score</c:v>
                </c:pt>
              </c:strCache>
            </c:strRef>
          </c:tx>
          <c:spPr>
            <a:solidFill>
              <a:srgbClr val="1C7C7D"/>
            </a:solidFill>
          </c:spPr>
          <c:cat>
            <c:strRef>
              <c:f>Sheet1!$A$2:$A$4</c:f>
              <c:strCache>
                <c:ptCount val="3"/>
                <c:pt idx="0">
                  <c:v>Better fixed threshold</c:v>
                </c:pt>
                <c:pt idx="1">
                  <c:v>Exact vs noisy measurement</c:v>
                </c:pt>
                <c:pt idx="2">
                  <c:v>Knowing the patient's best level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10.8</c:v>
                </c:pt>
                <c:pt idx="1">
                  <c:v>8.6</c:v>
                </c:pt>
                <c:pt idx="2">
                  <c:v>6.6</c:v>
                </c:pt>
              </c:numCache>
            </c:numRef>
          </c:val>
        </c:ser>
        <c:dLbls>
          <c:numFmt formatCode="+0.0" sourceLinked="0"/>
          <c:txPr>
            <a:bodyPr/>
            <a:lstStyle/>
            <a:p>
              <a:pPr>
                <a:defRPr sz="1400">
                  <a:solidFill>
                    <a:srgbClr val="16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2606D"/>
            </a:solidFill>
          </a:ln>
        </c:spPr>
        <c:txPr>
          <a:bodyPr/>
          <a:lstStyle/>
          <a:p>
            <a:pPr>
              <a:defRPr sz="1400">
                <a:solidFill>
                  <a:srgbClr val="1620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framing: we asked whether a smarter, memory-carrying or continuous-time AI scheduler beats a trivial one for adaptive cancer therapy. The answer in our simulator is no, and I will show why and how sure we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 carry the talk. ODE-RNN is the continuous-time model. Days are our score, defined later. The task still has room, so this is not 'nothing to gain'; it is 'memory is not where the gain is, and these learners cannot capture it'.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simulator is a two-population Lotka-Volterra model. The figure is one patient from the test set picked by a fixed rule, not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Reinforcement learning in one sentence: the network tries doses, gets a score at the end, and adjusts. 'Partially observable' is the key concept: the clinician (and the network) sees tumour size, not which cells are resistant.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words: sensitive cells change by growth times crowding times drug survival minus death; resistant cells by growth times crowding minus death. Hahnfeldt and Kuznetsov models were tried and have no resistance, and two published three-type models did not reproduce, so every result is for this one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step: the decision step is one week (7 days); the episode is 52 decisions, 357 days. All networks see the same weekly measurement; only the ODE-RNN also advances its memory in between.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are trained with the same algorithm (PQN, a recent simple Q-learning method) on the same patients; only the network differs, so any difference is about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Seed-level resampling matters: an early comparison that resampled only patients made the ODE-RNN look significantly worse than the LSTM; with seeds resampled the intervals widen and it is a tie. We kept every failed run in the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plot as: if a dot and its line were right of zero, the first-named network would be better. None of the ODE-RNN rows is. The LSTM also trails the MLP, so memory itself does not help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'maybe the recurrent networks are just undertrained'. A threshold policy could gain at most about 15 days from memory-type information, and training costs three times that. The first bar is a plain threshold near baseline that the MLP could represent but did not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learner latches onto a time-keyed schedule instead of reacting to the tumour. That is a plausible general hazard for any extra input given to a learned controller, and the most reusable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came from two outside reviews. Each is a pre-registered run. POPGym is a standard benchmark of memory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PPO is the other common policy-gradient algorithm. The rule was fixed beforehand: if the full-information reference does not beat the MLP under PPO, the run says nothing about trainers.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Happy to take questions on the biology of the simulator, the RL training, or the submission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Can a learned dosing policy do better by remembering, or by thinking in continuous time?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CFE3DD"/>
                </a:solidFill>
                <a:latin typeface="Calibri"/>
              </a:rPr>
              <a:t>Reinforcement learning for adaptive cancer therapy: a pre-registered negative result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FC3B8"/>
                </a:solidFill>
                <a:latin typeface="Calibri"/>
              </a:rPr>
              <a:t>Project status report  ·  18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The short answer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2</a:t>
            </a:r>
          </a:p>
        </p:txBody>
      </p:sp>
      <p:sp>
        <p:nvSpPr>
          <p:cNvPr id="4" name="Stat card"/>
          <p:cNvSpPr/>
          <p:nvPr/>
        </p:nvSpPr>
        <p:spPr>
          <a:xfrm>
            <a:off x="548640" y="146304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"/>
          <p:cNvSpPr txBox="1"/>
          <p:nvPr/>
        </p:nvSpPr>
        <p:spPr>
          <a:xfrm>
            <a:off x="777240" y="16916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07A5F"/>
                </a:solidFill>
                <a:latin typeface="Cambria"/>
              </a:rPr>
              <a:t>−50 days</a:t>
            </a:r>
          </a:p>
        </p:txBody>
      </p:sp>
      <p:sp>
        <p:nvSpPr>
          <p:cNvPr id="6" name="Stat label"/>
          <p:cNvSpPr txBox="1"/>
          <p:nvPr/>
        </p:nvSpPr>
        <p:spPr>
          <a:xfrm>
            <a:off x="777240" y="283464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6202B"/>
                </a:solidFill>
                <a:latin typeface="Calibri"/>
              </a:rPr>
              <a:t>ODE-RNN vs a memoryless network, parameter shift (95% interval −64 to −38)</a:t>
            </a:r>
          </a:p>
        </p:txBody>
      </p:sp>
      <p:sp>
        <p:nvSpPr>
          <p:cNvPr id="7" name="Stat card"/>
          <p:cNvSpPr/>
          <p:nvPr/>
        </p:nvSpPr>
        <p:spPr>
          <a:xfrm>
            <a:off x="4297679" y="146304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"/>
          <p:cNvSpPr txBox="1"/>
          <p:nvPr/>
        </p:nvSpPr>
        <p:spPr>
          <a:xfrm>
            <a:off x="4526279" y="16916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1C7C7D"/>
                </a:solidFill>
                <a:latin typeface="Cambria"/>
              </a:rPr>
              <a:t>+23 days</a:t>
            </a:r>
          </a:p>
        </p:txBody>
      </p:sp>
      <p:sp>
        <p:nvSpPr>
          <p:cNvPr id="9" name="Stat label"/>
          <p:cNvSpPr txBox="1"/>
          <p:nvPr/>
        </p:nvSpPr>
        <p:spPr>
          <a:xfrm>
            <a:off x="4526279" y="283464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6202B"/>
                </a:solidFill>
                <a:latin typeface="Calibri"/>
              </a:rPr>
              <a:t>headroom a per-patient search finds over that network: the task is not solved</a:t>
            </a:r>
          </a:p>
        </p:txBody>
      </p:sp>
      <p:sp>
        <p:nvSpPr>
          <p:cNvPr id="10" name="Stat card"/>
          <p:cNvSpPr/>
          <p:nvPr/>
        </p:nvSpPr>
        <p:spPr>
          <a:xfrm>
            <a:off x="8046719" y="146304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"/>
          <p:cNvSpPr txBox="1"/>
          <p:nvPr/>
        </p:nvSpPr>
        <p:spPr>
          <a:xfrm>
            <a:off x="8275319" y="16916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3D5A80"/>
                </a:solidFill>
                <a:latin typeface="Cambria"/>
              </a:rPr>
              <a:t>≤ 15 days</a:t>
            </a:r>
          </a:p>
        </p:txBody>
      </p:sp>
      <p:sp>
        <p:nvSpPr>
          <p:cNvPr id="12" name="Stat label"/>
          <p:cNvSpPr txBox="1"/>
          <p:nvPr/>
        </p:nvSpPr>
        <p:spPr>
          <a:xfrm>
            <a:off x="8275319" y="283464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6202B"/>
                </a:solidFill>
                <a:latin typeface="Calibri"/>
              </a:rPr>
              <a:t>of that gain can need memory, while training recurrent networks costs 40 to 50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F3D3E"/>
                </a:solidFill>
                <a:latin typeface="Calibri"/>
              </a:rPr>
              <a:t>A network that looks only at today's tumour size, with a one-line threshold rule, matches or beats memory and continuous-time models trained the same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Adaptive therapy: treat less, delay resistance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3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48640" y="1371600"/>
            <a:ext cx="4023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200"/>
              </a:spcAft>
              <a:buChar char="•"/>
            </a:pPr>
            <a:r>
              <a:rPr sz="1700" b="0" i="0">
                <a:solidFill>
                  <a:srgbClr val="16202B"/>
                </a:solidFill>
                <a:latin typeface="Calibri"/>
              </a:rPr>
              <a:t>Maximum dose kills sensitive cells and lets resistant ones take over.</a:t>
            </a:r>
          </a:p>
          <a:p>
            <a:pPr algn="l" marL="285750" indent="-285750">
              <a:spcAft>
                <a:spcPts val="1200"/>
              </a:spcAft>
              <a:buChar char="•"/>
            </a:pPr>
            <a:r>
              <a:rPr sz="1700" b="0" i="0">
                <a:solidFill>
                  <a:srgbClr val="16202B"/>
                </a:solidFill>
                <a:latin typeface="Calibri"/>
              </a:rPr>
              <a:t>Adaptive therapy pauses the drug when the tumour has shrunk and restarts it on regrowth, so sensitive cells keep suppressing resistant ones.</a:t>
            </a:r>
          </a:p>
          <a:p>
            <a:pPr algn="l" marL="285750" indent="-285750">
              <a:spcAft>
                <a:spcPts val="1200"/>
              </a:spcAft>
              <a:buChar char="•"/>
            </a:pPr>
            <a:r>
              <a:rPr sz="1700" b="0" i="0">
                <a:solidFill>
                  <a:srgbClr val="16202B"/>
                </a:solidFill>
                <a:latin typeface="Calibri"/>
              </a:rPr>
              <a:t>The clinical rule is a threshold on a marker such as PSA.</a:t>
            </a:r>
          </a:p>
        </p:txBody>
      </p:sp>
      <p:pic>
        <p:nvPicPr>
          <p:cNvPr id="5" name="One virtual patient under four dosing policies" descr="One virtual patient under four dosing polic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6309360" cy="3549015"/>
          </a:xfrm>
          <a:prstGeom prst="rect">
            <a:avLst/>
          </a:prstGeom>
        </p:spPr>
      </p:pic>
      <p:sp>
        <p:nvSpPr>
          <p:cNvPr id="6" name="How to read"/>
          <p:cNvSpPr txBox="1"/>
          <p:nvPr/>
        </p:nvSpPr>
        <p:spPr>
          <a:xfrm>
            <a:off x="4754880" y="4937760"/>
            <a:ext cx="6858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F3D3E"/>
                </a:solidFill>
                <a:latin typeface="Calibri"/>
              </a:rPr>
              <a:t>How to read it. </a:t>
            </a:r>
            <a:r>
              <a:rPr sz="1400" b="0" i="0">
                <a:solidFill>
                  <a:srgbClr val="36424E"/>
                </a:solidFill>
                <a:latin typeface="Calibri"/>
              </a:rPr>
              <a:t>Top: tumour size relative to its start (log scale) over one year; each line is one dosing policy (grey = no treatment). Dots = progression. Bottom: one bar per week where that policy gave drug (tall = full dose, short = half, none = gap). Here MTD (black) shrinks the tumour most but progresses at day 175; the orange and blue policies give less drug and progress at day 322 and 196.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RL set-up: the policy sees only total tumour size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4</a:t>
            </a:r>
          </a:p>
        </p:txBody>
      </p:sp>
      <p:sp>
        <p:nvSpPr>
          <p:cNvPr id="4" name="Flow box"/>
          <p:cNvSpPr/>
          <p:nvPr/>
        </p:nvSpPr>
        <p:spPr>
          <a:xfrm>
            <a:off x="548640" y="164592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640080" y="1645920"/>
            <a:ext cx="2286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Virtual patient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sensitive + resistant cells (hidden)</a:t>
            </a:r>
          </a:p>
        </p:txBody>
      </p:sp>
      <p:sp>
        <p:nvSpPr>
          <p:cNvPr id="6" name="Arrow"/>
          <p:cNvSpPr/>
          <p:nvPr/>
        </p:nvSpPr>
        <p:spPr>
          <a:xfrm>
            <a:off x="3054096" y="2286000"/>
            <a:ext cx="347472" cy="365760"/>
          </a:xfrm>
          <a:prstGeom prst="rightArrow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box"/>
          <p:cNvSpPr/>
          <p:nvPr/>
        </p:nvSpPr>
        <p:spPr>
          <a:xfrm>
            <a:off x="3429000" y="164592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1C7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3520440" y="1645920"/>
            <a:ext cx="2286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Measurement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total burden, 5% noise, weekly</a:t>
            </a:r>
          </a:p>
        </p:txBody>
      </p:sp>
      <p:sp>
        <p:nvSpPr>
          <p:cNvPr id="9" name="Arrow"/>
          <p:cNvSpPr/>
          <p:nvPr/>
        </p:nvSpPr>
        <p:spPr>
          <a:xfrm>
            <a:off x="5934456" y="2286000"/>
            <a:ext cx="347472" cy="365760"/>
          </a:xfrm>
          <a:prstGeom prst="rightArrow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box"/>
          <p:cNvSpPr/>
          <p:nvPr/>
        </p:nvSpPr>
        <p:spPr>
          <a:xfrm>
            <a:off x="6309359" y="164592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6400799" y="1645920"/>
            <a:ext cx="2286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Policy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neural network</a:t>
            </a:r>
          </a:p>
        </p:txBody>
      </p:sp>
      <p:sp>
        <p:nvSpPr>
          <p:cNvPr id="12" name="Arrow"/>
          <p:cNvSpPr/>
          <p:nvPr/>
        </p:nvSpPr>
        <p:spPr>
          <a:xfrm>
            <a:off x="8814816" y="2286000"/>
            <a:ext cx="347472" cy="365760"/>
          </a:xfrm>
          <a:prstGeom prst="rightArrow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box"/>
          <p:cNvSpPr/>
          <p:nvPr/>
        </p:nvSpPr>
        <p:spPr>
          <a:xfrm>
            <a:off x="9189719" y="164592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281159" y="1645920"/>
            <a:ext cx="2286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Dose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none · half · full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Trial and error on 200 virtual patients per training run; reward = low tumour burden, charged for drug.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Partially observable: the same measurement can hide different underlying cell mixes. The textbook remedy is memory.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52 weekly decisions (one year); progression = a 20% rise above the lowest burden, confirmed over 28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The patient model: two cell types competing for space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5</a:t>
            </a:r>
          </a:p>
        </p:txBody>
      </p:sp>
      <p:sp>
        <p:nvSpPr>
          <p:cNvPr id="4" name="Cell box"/>
          <p:cNvSpPr/>
          <p:nvPr/>
        </p:nvSpPr>
        <p:spPr>
          <a:xfrm>
            <a:off x="548640" y="1463040"/>
            <a:ext cx="3017520" cy="1920240"/>
          </a:xfrm>
          <a:prstGeom prst="roundRect">
            <a:avLst>
              <a:gd name="adj" fmla="val 8000"/>
            </a:avLst>
          </a:prstGeom>
          <a:solidFill>
            <a:srgbClr val="1C7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685800" y="1463040"/>
            <a:ext cx="27432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Sensitive cells S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grow, die naturally, and are killed by the drug</a:t>
            </a:r>
          </a:p>
        </p:txBody>
      </p:sp>
      <p:sp>
        <p:nvSpPr>
          <p:cNvPr id="6" name="Cell box"/>
          <p:cNvSpPr/>
          <p:nvPr/>
        </p:nvSpPr>
        <p:spPr>
          <a:xfrm>
            <a:off x="3840480" y="1463040"/>
            <a:ext cx="3017520" cy="192024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 txBox="1"/>
          <p:nvPr/>
        </p:nvSpPr>
        <p:spPr>
          <a:xfrm>
            <a:off x="3977640" y="1463040"/>
            <a:ext cx="27432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Resistant cells R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grow (usually slower: a cost of resistance), are not touched by the drug</a:t>
            </a:r>
          </a:p>
        </p:txBody>
      </p:sp>
      <p:sp>
        <p:nvSpPr>
          <p:cNvPr id="8" name="Capacity"/>
          <p:cNvSpPr/>
          <p:nvPr/>
        </p:nvSpPr>
        <p:spPr>
          <a:xfrm>
            <a:off x="548640" y="3611880"/>
            <a:ext cx="6309360" cy="8229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731520" y="3611880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3D3E"/>
                </a:solidFill>
                <a:latin typeface="Calibri"/>
              </a:rPr>
              <a:t>Both share one capacity K: the fuller the tumour, the slower both grow.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48640" y="4754880"/>
            <a:ext cx="6309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6424E"/>
                </a:solidFill>
                <a:latin typeface="Calibri"/>
              </a:rPr>
              <a:t>Why two cell types? Adaptive therapy works only because treatment-sensitive cells keep resistant ones in check; this is the smallest model that has that mechanism.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223760" y="1463040"/>
            <a:ext cx="4480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The drug: each dose is cleared at 0.5 per day and its effect saturates.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The policy sees only S + R, relative to the start, with 5% noise.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Parameters follow Strobl et al. 2021; our code reproduces 14 of 14 of that paper's published numbers within 3%.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200 training and 200 test patients per seed, each a random draw from the parameter ranges.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One episode = one year of weekly decisions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6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6202B"/>
                </a:solidFill>
                <a:latin typeface="Calibri"/>
              </a:rPr>
              <a:t>Each dot = a weekly visit: measure the tumour, choose a dose (none, half, full) held for 7 days; open dots = a missed visit (Tier 4), the last dose just continues.</a:t>
            </a:r>
          </a:p>
        </p:txBody>
      </p:sp>
      <p:cxnSp>
        <p:nvCxnSpPr>
          <p:cNvPr id="5" name="Time axis"/>
          <p:cNvCxnSpPr/>
          <p:nvPr/>
        </p:nvCxnSpPr>
        <p:spPr>
          <a:xfrm>
            <a:off x="731520" y="2514600"/>
            <a:ext cx="10698480" cy="0"/>
          </a:xfrm>
          <a:prstGeom prst="line">
            <a:avLst/>
          </a:prstGeom>
          <a:ln w="25400">
            <a:solidFill>
              <a:srgbClr val="526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Visit"/>
          <p:cNvSpPr/>
          <p:nvPr/>
        </p:nvSpPr>
        <p:spPr>
          <a:xfrm>
            <a:off x="621792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isit"/>
          <p:cNvSpPr/>
          <p:nvPr/>
        </p:nvSpPr>
        <p:spPr>
          <a:xfrm>
            <a:off x="1444752" y="24048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it"/>
          <p:cNvSpPr/>
          <p:nvPr/>
        </p:nvSpPr>
        <p:spPr>
          <a:xfrm>
            <a:off x="2267711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it"/>
          <p:cNvSpPr/>
          <p:nvPr/>
        </p:nvSpPr>
        <p:spPr>
          <a:xfrm>
            <a:off x="3090672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it"/>
          <p:cNvSpPr/>
          <p:nvPr/>
        </p:nvSpPr>
        <p:spPr>
          <a:xfrm>
            <a:off x="3913631" y="24048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isit"/>
          <p:cNvSpPr/>
          <p:nvPr/>
        </p:nvSpPr>
        <p:spPr>
          <a:xfrm>
            <a:off x="4736592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it"/>
          <p:cNvSpPr/>
          <p:nvPr/>
        </p:nvSpPr>
        <p:spPr>
          <a:xfrm>
            <a:off x="5559551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isit"/>
          <p:cNvSpPr/>
          <p:nvPr/>
        </p:nvSpPr>
        <p:spPr>
          <a:xfrm>
            <a:off x="6382511" y="24048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it"/>
          <p:cNvSpPr/>
          <p:nvPr/>
        </p:nvSpPr>
        <p:spPr>
          <a:xfrm>
            <a:off x="7205471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it"/>
          <p:cNvSpPr/>
          <p:nvPr/>
        </p:nvSpPr>
        <p:spPr>
          <a:xfrm>
            <a:off x="8028432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sit"/>
          <p:cNvSpPr/>
          <p:nvPr/>
        </p:nvSpPr>
        <p:spPr>
          <a:xfrm>
            <a:off x="8851392" y="24048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sit"/>
          <p:cNvSpPr/>
          <p:nvPr/>
        </p:nvSpPr>
        <p:spPr>
          <a:xfrm>
            <a:off x="9674352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sit"/>
          <p:cNvSpPr/>
          <p:nvPr/>
        </p:nvSpPr>
        <p:spPr>
          <a:xfrm>
            <a:off x="10497312" y="2404872"/>
            <a:ext cx="219456" cy="219456"/>
          </a:xfrm>
          <a:prstGeom prst="ellipse">
            <a:avLst/>
          </a:prstGeom>
          <a:solidFill>
            <a:srgbClr val="1C7C7D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sit"/>
          <p:cNvSpPr/>
          <p:nvPr/>
        </p:nvSpPr>
        <p:spPr>
          <a:xfrm>
            <a:off x="11320272" y="24048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365760" y="27432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16202B"/>
                </a:solidFill>
                <a:latin typeface="Calibri"/>
              </a:rPr>
              <a:t>day 0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784080" y="2743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16202B"/>
                </a:solidFill>
                <a:latin typeface="Calibri"/>
              </a:rPr>
              <a:t>day 357 (52 visits)</a:t>
            </a:r>
          </a:p>
        </p:txBody>
      </p:sp>
      <p:sp>
        <p:nvSpPr>
          <p:cNvPr id="22" name="Fact card"/>
          <p:cNvSpPr/>
          <p:nvPr/>
        </p:nvSpPr>
        <p:spPr>
          <a:xfrm>
            <a:off x="548640" y="347472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731520" y="3584448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Between visits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6202B"/>
                </a:solidFill>
                <a:latin typeface="Calibri"/>
              </a:rPr>
              <a:t>Model equations solved in small fixed steps; ODE-RNN memory advances in 7/8-day steps.</a:t>
            </a:r>
          </a:p>
        </p:txBody>
      </p:sp>
      <p:sp>
        <p:nvSpPr>
          <p:cNvPr id="24" name="Fact card"/>
          <p:cNvSpPr/>
          <p:nvPr/>
        </p:nvSpPr>
        <p:spPr>
          <a:xfrm>
            <a:off x="6172200" y="347472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6355080" y="3584448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Training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6202B"/>
                </a:solidFill>
                <a:latin typeface="Calibri"/>
              </a:rPr>
              <a:t>300 updates × 32 patients; 10 seeds per network; four exposure prices; nothing tuned.</a:t>
            </a:r>
          </a:p>
        </p:txBody>
      </p:sp>
      <p:sp>
        <p:nvSpPr>
          <p:cNvPr id="26" name="Fact card"/>
          <p:cNvSpPr/>
          <p:nvPr/>
        </p:nvSpPr>
        <p:spPr>
          <a:xfrm>
            <a:off x="548640" y="48920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731520" y="5001768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Testing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6202B"/>
                </a:solidFill>
                <a:latin typeface="Calibri"/>
              </a:rPr>
              <a:t>200 held-out patients per seed: in range (Tier 0), parameters shifted (Tier 1), visits missed 20–50% (Tier 4).</a:t>
            </a:r>
          </a:p>
        </p:txBody>
      </p:sp>
      <p:sp>
        <p:nvSpPr>
          <p:cNvPr id="28" name="Fact card"/>
          <p:cNvSpPr/>
          <p:nvPr/>
        </p:nvSpPr>
        <p:spPr>
          <a:xfrm>
            <a:off x="6172200" y="48920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6355080" y="5001768"/>
            <a:ext cx="5074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Progression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6202B"/>
                </a:solidFill>
                <a:latin typeface="Calibri"/>
              </a:rPr>
              <a:t>Burden 20% above its lowest value, confirmed over 28 days; score capped at 357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Four policies, matched in size (~3,100 parameters)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7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C7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head"/>
          <p:cNvSpPr txBox="1"/>
          <p:nvPr/>
        </p:nvSpPr>
        <p:spPr>
          <a:xfrm>
            <a:off x="1417319" y="164592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MLP</a:t>
            </a:r>
          </a:p>
        </p:txBody>
      </p:sp>
      <p:sp>
        <p:nvSpPr>
          <p:cNvPr id="7" name="Card body"/>
          <p:cNvSpPr txBox="1"/>
          <p:nvPr/>
        </p:nvSpPr>
        <p:spPr>
          <a:xfrm>
            <a:off x="822959" y="2331720"/>
            <a:ext cx="4892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6202B"/>
                </a:solidFill>
                <a:latin typeface="Calibri"/>
              </a:rPr>
              <a:t>Looks only at today's measurement. The memoryless baseline.</a:t>
            </a:r>
          </a:p>
        </p:txBody>
      </p:sp>
      <p:sp>
        <p:nvSpPr>
          <p:cNvPr id="8" name="Card"/>
          <p:cNvSpPr/>
          <p:nvPr/>
        </p:nvSpPr>
        <p:spPr>
          <a:xfrm>
            <a:off x="6217920" y="146304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head"/>
          <p:cNvSpPr txBox="1"/>
          <p:nvPr/>
        </p:nvSpPr>
        <p:spPr>
          <a:xfrm>
            <a:off x="7086600" y="164592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LSTM</a:t>
            </a:r>
          </a:p>
        </p:txBody>
      </p:sp>
      <p:sp>
        <p:nvSpPr>
          <p:cNvPr id="11" name="Card body"/>
          <p:cNvSpPr txBox="1"/>
          <p:nvPr/>
        </p:nvSpPr>
        <p:spPr>
          <a:xfrm>
            <a:off x="6492240" y="2331720"/>
            <a:ext cx="4892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6202B"/>
                </a:solidFill>
                <a:latin typeface="Calibri"/>
              </a:rPr>
              <a:t>Remembers the past in discrete steps. The standard memory network.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977639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head"/>
          <p:cNvSpPr txBox="1"/>
          <p:nvPr/>
        </p:nvSpPr>
        <p:spPr>
          <a:xfrm>
            <a:off x="1417319" y="416052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ODE-RNN</a:t>
            </a:r>
          </a:p>
        </p:txBody>
      </p:sp>
      <p:sp>
        <p:nvSpPr>
          <p:cNvPr id="15" name="Card body"/>
          <p:cNvSpPr txBox="1"/>
          <p:nvPr/>
        </p:nvSpPr>
        <p:spPr>
          <a:xfrm>
            <a:off x="822959" y="4846320"/>
            <a:ext cx="4892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6202B"/>
                </a:solidFill>
                <a:latin typeface="Calibri"/>
              </a:rPr>
              <a:t>Hidden memory flows as a differential equation between visits. The continuous-time candidate.</a:t>
            </a:r>
          </a:p>
        </p:txBody>
      </p:sp>
      <p:sp>
        <p:nvSpPr>
          <p:cNvPr id="16" name="Card"/>
          <p:cNvSpPr/>
          <p:nvPr/>
        </p:nvSpPr>
        <p:spPr>
          <a:xfrm>
            <a:off x="6217920" y="3977639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"/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head"/>
          <p:cNvSpPr txBox="1"/>
          <p:nvPr/>
        </p:nvSpPr>
        <p:spPr>
          <a:xfrm>
            <a:off x="7086600" y="416052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MLP + clock</a:t>
            </a:r>
          </a:p>
        </p:txBody>
      </p:sp>
      <p:sp>
        <p:nvSpPr>
          <p:cNvPr id="19" name="Card body"/>
          <p:cNvSpPr txBox="1"/>
          <p:nvPr/>
        </p:nvSpPr>
        <p:spPr>
          <a:xfrm>
            <a:off x="6492240" y="4846320"/>
            <a:ext cx="4892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6202B"/>
                </a:solidFill>
                <a:latin typeface="Calibri"/>
              </a:rPr>
              <a:t>Today's measurement plus the elapsed time. Tests whether 'when' is enough.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How we score, and how sure we are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8</a:t>
            </a:r>
          </a:p>
        </p:txBody>
      </p:sp>
      <p:sp>
        <p:nvSpPr>
          <p:cNvPr id="4" name="Formula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0F3D3E"/>
                </a:solidFill>
                <a:latin typeface="Cambria"/>
              </a:rPr>
              <a:t>U  =  days until progression (capped at 357)  −  w × drug given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48640" y="3200400"/>
            <a:ext cx="11064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Compare two policies on the same patients (paired); a positive difference favours the first.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95% intervals resample both training runs (seeds) and patients; 10 seeds per network.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Every run counts, including failures; hypothesis and pass/kill rule are written before the run (pre-registration).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Three test settings: in range (Tier 0), parameters shifted out of range (Tier 1), 20 to 50% of visits missed (Tier 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No continuous-time edge in any test setting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9</a:t>
            </a:r>
          </a:p>
        </p:txBody>
      </p:sp>
      <p:pic>
        <p:nvPicPr>
          <p:cNvPr id="4" name="Score differences between networks with 95% intervals" descr="Score differences between networks with 95% interv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863840" cy="2903572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03920" y="1371600"/>
            <a:ext cx="3291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ODE-RNN − MLP: −50 days under shift.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ODE-RNN − LSTM: a tie (−5.9, interval spans 0).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Fitted to 55 real PSA patients: both negatives replicate.</a:t>
            </a:r>
          </a:p>
        </p:txBody>
      </p:sp>
      <p:sp>
        <p:nvSpPr>
          <p:cNvPr id="6" name="How to read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F3D3E"/>
                </a:solidFill>
                <a:latin typeface="Calibri"/>
              </a:rPr>
              <a:t>How to read it. </a:t>
            </a:r>
            <a:r>
              <a:rPr sz="1400" b="0" i="0">
                <a:solidFill>
                  <a:srgbClr val="36424E"/>
                </a:solidFill>
                <a:latin typeface="Calibri"/>
              </a:rPr>
              <a:t>Each row compares two networks (for example ODE − MLP). The dot is the average difference in score, in days, over the test patients; the line is its 95% interval. Right of the zero line means the first-named network is better, left means worse; a line that crosses zero means we cannot tell them apart. Three panels = three test settings. Filled dots: the main simulator ranges (Strobl 2021); open dots: a second, higher-cost regime. No ODE row sits to the right of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The task has room, but memory is a small part of it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10</a:t>
            </a:r>
          </a:p>
        </p:txBody>
      </p:sp>
      <p:graphicFrame>
        <p:nvGraphicFramePr>
          <p:cNvPr id="4" name="Headroom split chart"/>
          <p:cNvGraphicFramePr>
            <a:graphicFrameLocks noGrp="1"/>
          </p:cNvGraphicFramePr>
          <p:nvPr/>
        </p:nvGraphicFramePr>
        <p:xfrm>
          <a:off x="457200" y="1280160"/>
          <a:ext cx="66751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"/>
          <p:cNvSpPr txBox="1"/>
          <p:nvPr/>
        </p:nvSpPr>
        <p:spPr>
          <a:xfrm>
            <a:off x="7406640" y="1371600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A per-patient search on the true simulator beats the MLP by +23 days.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The first third needs nothing the MLP lacks. Only the other two thirds (about 15 days) could need memory.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Training the recurrent networks costs 40 to 50 days.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A split of one rule family's gain, not a proof that no memory policy could help.</a:t>
            </a:r>
          </a:p>
        </p:txBody>
      </p:sp>
      <p:sp>
        <p:nvSpPr>
          <p:cNvPr id="6" name="How to read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F3D3E"/>
                </a:solidFill>
                <a:latin typeface="Calibri"/>
              </a:rPr>
              <a:t>How to read it. </a:t>
            </a:r>
            <a:r>
              <a:rPr sz="1400" b="0" i="0">
                <a:solidFill>
                  <a:srgbClr val="36424E"/>
                </a:solidFill>
                <a:latin typeface="Calibri"/>
              </a:rPr>
              <a:t>Each bar is extra score, in days, that a better policy could win over the learned MLP; together the three bars are the +26 days a patient-tuned threshold gains. Only the second and third bars come from knowing more about the patient, the kind of thing memory could supply.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A training shortcut explains the clock's cost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11</a:t>
            </a:r>
          </a:p>
        </p:txBody>
      </p:sp>
      <p:pic>
        <p:nvPicPr>
          <p:cNvPr id="4" name="Effect of hiding the clock or memory during training, relative to the MLP" descr="Effect of hiding the clock or memory during training, relative to the ML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23760" cy="3334043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955279" y="1371600"/>
            <a:ext cx="3840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MLP + clock is 57 days worse. Hiding the clock half the time in training removes all of it (+54 days).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The same trick for the LSTM and ODE-RNN changes little (about +4 days).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With their memory switched off at test they do 31 to 39 days better.</a:t>
            </a:r>
          </a:p>
        </p:txBody>
      </p:sp>
      <p:sp>
        <p:nvSpPr>
          <p:cNvPr id="6" name="How to read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F3D3E"/>
                </a:solidFill>
                <a:latin typeface="Calibri"/>
              </a:rPr>
              <a:t>How to read it. </a:t>
            </a:r>
            <a:r>
              <a:rPr sz="1400" b="0" i="0">
                <a:solidFill>
                  <a:srgbClr val="36424E"/>
                </a:solidFill>
                <a:latin typeface="Calibri"/>
              </a:rPr>
              <a:t>Same layout as the previous figure, but every row is compared with the plain MLP (the zero line), in the shifted-parameter setting. Colour = network type. Round dot = trained normally; filled diamond = trained with the clock (or memory) hidden half the time; open diamond = the clock or memory is also switched off at test. A dot near zero means 'as good as the MLP'.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Three objections, three controls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12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C7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head"/>
          <p:cNvSpPr txBox="1"/>
          <p:nvPr/>
        </p:nvSpPr>
        <p:spPr>
          <a:xfrm>
            <a:off x="1417319" y="164592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Can it use memory?</a:t>
            </a:r>
          </a:p>
        </p:txBody>
      </p:sp>
      <p:sp>
        <p:nvSpPr>
          <p:cNvPr id="7" name="Card body"/>
          <p:cNvSpPr txBox="1"/>
          <p:nvPr/>
        </p:nvSpPr>
        <p:spPr>
          <a:xfrm>
            <a:off x="822959" y="2331720"/>
            <a:ext cx="3063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6202B"/>
                </a:solidFill>
                <a:latin typeface="Calibri"/>
              </a:rPr>
              <a:t>Same algorithm on POPGym memory tasks: the LSTM beats the MLP on 2 of 3 (return +1.38 and +1.04, perfect is +1). Yes, where memory pays.</a:t>
            </a:r>
          </a:p>
        </p:txBody>
      </p:sp>
      <p:sp>
        <p:nvSpPr>
          <p:cNvPr id="8" name="Card"/>
          <p:cNvSpPr/>
          <p:nvPr/>
        </p:nvSpPr>
        <p:spPr>
          <a:xfrm>
            <a:off x="4297680" y="146304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head"/>
          <p:cNvSpPr txBox="1"/>
          <p:nvPr/>
        </p:nvSpPr>
        <p:spPr>
          <a:xfrm>
            <a:off x="5166360" y="164592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LSTM too small?</a:t>
            </a:r>
          </a:p>
        </p:txBody>
      </p:sp>
      <p:sp>
        <p:nvSpPr>
          <p:cNvPr id="11" name="Card body"/>
          <p:cNvSpPr txBox="1"/>
          <p:nvPr/>
        </p:nvSpPr>
        <p:spPr>
          <a:xfrm>
            <a:off x="4572000" y="2331720"/>
            <a:ext cx="3063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6202B"/>
                </a:solidFill>
                <a:latin typeface="Calibri"/>
              </a:rPr>
              <a:t>5× and 22× the parameters: no recovery (−5 and −3 days vs the small LSTM). Still 47 to 49 days below the MLP.</a:t>
            </a:r>
          </a:p>
        </p:txBody>
      </p:sp>
      <p:sp>
        <p:nvSpPr>
          <p:cNvPr id="12" name="Card"/>
          <p:cNvSpPr/>
          <p:nvPr/>
        </p:nvSpPr>
        <p:spPr>
          <a:xfrm>
            <a:off x="8046720" y="146304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head"/>
          <p:cNvSpPr txBox="1"/>
          <p:nvPr/>
        </p:nvSpPr>
        <p:spPr>
          <a:xfrm>
            <a:off x="8915400" y="164592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Second algorithm?</a:t>
            </a:r>
          </a:p>
        </p:txBody>
      </p:sp>
      <p:sp>
        <p:nvSpPr>
          <p:cNvPr id="15" name="Card body"/>
          <p:cNvSpPr txBox="1"/>
          <p:nvPr/>
        </p:nvSpPr>
        <p:spPr>
          <a:xfrm>
            <a:off x="8321040" y="2331720"/>
            <a:ext cx="3063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6202B"/>
                </a:solidFill>
                <a:latin typeface="Calibri"/>
              </a:rPr>
              <a:t>PPO, all arms retrained: the validity check failed (a network shown the true cell counts did not beat the MLP), so it is inconclusive. LSTM and ODE-RNN again trail by 28–42 days.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Second training algorithm: PPO instead of PQN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13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48640" y="1463040"/>
            <a:ext cx="110642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12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Re-ran the whole comparison with PPO (600 updates, untuned) instead of PQN.</a:t>
            </a:r>
          </a:p>
          <a:p>
            <a:pPr algn="l" marL="285750" indent="-285750">
              <a:spcAft>
                <a:spcPts val="12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Our rule: a network shown the true hidden state must beat the MLP under the new trainer. It did not (−1.6 days, interval −10 to +6), so the run says nothing about trainers.</a:t>
            </a:r>
          </a:p>
          <a:p>
            <a:pPr algn="l" marL="285750" indent="-285750">
              <a:spcAft>
                <a:spcPts val="12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Descriptively: LSTM and ODE-RNN trail the MLP by 28 to 42 days and tie each other.</a:t>
            </a:r>
          </a:p>
          <a:p>
            <a:pPr algn="l" marL="285750" indent="-285750">
              <a:spcAft>
                <a:spcPts val="12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They collapse to a fixed full-dose schedule in 12 (LSTM) and 22 (ODE-RNN) of 40 runs: the failure of our first experiments.</a:t>
            </a:r>
          </a:p>
          <a:p>
            <a:pPr algn="l" marL="285750" indent="-285750">
              <a:spcAft>
                <a:spcPts val="1200"/>
              </a:spcAft>
              <a:buChar char="•"/>
            </a:pPr>
            <a:r>
              <a:rPr sz="1800" b="0" i="0">
                <a:solidFill>
                  <a:srgbClr val="16202B"/>
                </a:solidFill>
                <a:latin typeface="Calibri"/>
              </a:rPr>
              <a:t>So the paper does not claim the result holds under two algorithms. A trainer that passes the check is still missing.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2606D"/>
                </a:solidFill>
                <a:latin typeface="Calibri"/>
              </a:rPr>
              <a:t>Registered before the run; reported as inconclusive. Run V12 in the log (L1578).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3E"/>
                </a:solidFill>
                <a:latin typeface="Cambria"/>
              </a:rPr>
              <a:t>Limits and next steps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14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0F3D3E"/>
                </a:solidFill>
                <a:latin typeface="Calibri"/>
              </a:rPr>
              <a:t>Limits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192024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One simulator family; virtual patients; no clinical claim.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Untuned published training settings; recurrent nets are unstable across seeds.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Weekly visits carry no timing information, which limits what a continuous-time model can show.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MLP and ODE-RNN sizes were not scaled.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One year horizon in the main results; one resistance mechanism.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0F3D3E"/>
                </a:solidFill>
                <a:latin typeface="Calibri"/>
              </a:rPr>
              <a:t>Next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309360" y="192024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A second trainer that passes the full-information check: the open item both reviewers raised.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Optional: a tighter headroom bound; a larger MLP.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600" b="0" i="0">
                <a:solidFill>
                  <a:srgbClr val="16202B"/>
                </a:solidFill>
                <a:latin typeface="Calibri"/>
              </a:rPr>
              <a:t>Trim prose, anonymise the code link, check references, submit to TMLR (rolling, double-blind, judged on whether claims are supported).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