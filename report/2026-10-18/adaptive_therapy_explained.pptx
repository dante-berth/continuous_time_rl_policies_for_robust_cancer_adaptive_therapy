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dPt>
            <c:idx val="0"/>
            <c:spPr>
              <a:solidFill>
                <a:srgbClr val="5B6573"/>
              </a:solidFill>
            </c:spPr>
          </c:dPt>
          <c:dPt>
            <c:idx val="1"/>
            <c:spPr>
              <a:solidFill>
                <a:srgbClr val="0F7C8A"/>
              </a:solidFill>
            </c:spPr>
          </c:dPt>
          <c:dPt>
            <c:idx val="2"/>
            <c:spPr>
              <a:solidFill>
                <a:srgbClr val="0F7C8A"/>
              </a:solidFill>
            </c:spPr>
          </c:dPt>
          <c:cat>
            <c:strRef>
              <c:f>Sheet1!$A$2:$A$4</c:f>
              <c:strCache>
                <c:ptCount val="3"/>
                <c:pt idx="0">
                  <c:v>Better fixed threshold</c:v>
                </c:pt>
                <c:pt idx="1">
                  <c:v>Exact burden, no noise</c:v>
                </c:pt>
                <c:pt idx="2">
                  <c:v>Knowing the patient's best level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9</c:v>
                </c:pt>
                <c:pt idx="2">
                  <c:v>7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score after PQN fine-tuning (days)</c:v>
                </c:pt>
              </c:strCache>
            </c:strRef>
          </c:tx>
          <c:dPt>
            <c:idx val="0"/>
            <c:spPr>
              <a:solidFill>
                <a:srgbClr val="14213D"/>
              </a:solidFill>
            </c:spPr>
          </c:dPt>
          <c:dPt>
            <c:idx val="1"/>
            <c:spPr>
              <a:solidFill>
                <a:srgbClr val="E4572E"/>
              </a:solidFill>
            </c:spPr>
          </c:dPt>
          <c:dPt>
            <c:idx val="2"/>
            <c:spPr>
              <a:solidFill>
                <a:srgbClr val="0F7C8A"/>
              </a:solidFill>
            </c:spPr>
          </c:dPt>
          <c:cat>
            <c:strRef>
              <c:f>Sheet1!$A$2:$A$4</c:f>
              <c:strCache>
                <c:ptCount val="3"/>
                <c:pt idx="0">
                  <c:v>MLP</c:v>
                </c:pt>
                <c:pt idx="1">
                  <c:v>LSTM</c:v>
                </c:pt>
                <c:pt idx="2">
                  <c:v>ODE-RNN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-0.5</c:v>
                </c:pt>
                <c:pt idx="1">
                  <c:v>-69</c:v>
                </c:pt>
                <c:pt idx="2">
                  <c:v>-88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6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high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Written for a bioinformatician who knows a little RL. Slides 2-6 explain the biology and the model, 7-9 the RL set-up, 10-15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 are days of score on virtual patients; the score is defined on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release. Nothing in the model mutates: resistant cells are present from the start. Burden reaches its lowest value at day 134 and progression (20% above the lowest, confirmed over 28 days) is at day 203.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POMDP: partially observable Markov decision process. Tuple (state, action, transition, reward, observation space, observation function, discount, horizon).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Can a dosing policy do better by remembering, or by thinking in continuous time?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ADCE8"/>
                </a:solidFill>
                <a:latin typeface="Calibri"/>
              </a:rPr>
              <a:t>Continuous-time reinforcement learning for adaptive cancer therapy: what we built, how it works, 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CE8"/>
                </a:solidFill>
                <a:latin typeface="Calibri"/>
              </a:rPr>
              <a:t>Status report, 18 October 2026  ·  virtual patients only, no clinical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The question, in three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66160" cy="301752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1  Adaptive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Treat until the tumour shrinks, pause, restart when it regrows. Sensitive cells stay alive and hold the resistant cells 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566160" cy="301752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737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2  A learned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28600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 neural network reads the tumour measurement each week and picks a dose: none, half or full. It learns by trial and error on virtual patients.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566160" cy="301752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3  What kind of network?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28600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Does a network that remembers the past (LSTM) or that models time as a flow (ODE-RNN) beat one that sees only today's value (MLP)?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937760"/>
            <a:ext cx="104241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9A23B"/>
                </a:solidFill>
                <a:latin typeface="Calibri"/>
              </a:rPr>
              <a:t>Answer in our simulator: no.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The memoryless network matches or beats both. The ODE-RNN is about 50 days worse, and the gap is a training cost, not a limit of what the network can represent.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Why full dosing stops working</a:t>
            </a:r>
          </a:p>
        </p:txBody>
      </p:sp>
      <p:pic>
        <p:nvPicPr>
          <p:cNvPr id="3" name="Picture 2" descr="mech_m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4576572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818120" y="1417320"/>
            <a:ext cx="457200" cy="457200"/>
          </a:xfrm>
          <a:prstGeom prst="ellipse">
            <a:avLst/>
          </a:prstGeom>
          <a:solidFill>
            <a:srgbClr val="0F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1399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Cambria"/>
              </a:rP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1746504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Mostly sensitive cells S, a few resistant cells R. They compete for the same space.</a:t>
            </a:r>
          </a:p>
        </p:txBody>
      </p:sp>
      <p:sp>
        <p:nvSpPr>
          <p:cNvPr id="7" name="Oval 6"/>
          <p:cNvSpPr/>
          <p:nvPr/>
        </p:nvSpPr>
        <p:spPr>
          <a:xfrm>
            <a:off x="7818120" y="2606040"/>
            <a:ext cx="457200" cy="457200"/>
          </a:xfrm>
          <a:prstGeom prst="ellipse">
            <a:avLst/>
          </a:prstGeom>
          <a:solidFill>
            <a:srgbClr val="0F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5877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Cambria"/>
              </a:rPr>
              <a:t>Full dose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935224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The drug stops S from growing, so S shrinks and the total burden falls.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379476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7764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Cambria"/>
              </a:rPr>
              <a:t>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123944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With S gone, nothing holds R back. The drug does not touch R, so R grows into the space.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498348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96519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Cambria"/>
              </a:rPr>
              <a:t>Regrowth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5312664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Total burden follows R. Dose is still maximal, but there is nothing left to act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Illustrative patient from a re-implementation of the paper's equations (r_R/r_S 0.9, d_T/r_S 0.5, start fill 0.3, resistant fraction 0.1; all inside the Strobl ranges). Not the patient of the paper's Figure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Sparing the sensitive cells delays the regrowth</a:t>
            </a:r>
          </a:p>
        </p:txBody>
      </p:sp>
      <p:pic>
        <p:nvPicPr>
          <p:cNvPr id="3" name="Picture 2" descr="mech_t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4576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37160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E4572E"/>
                </a:solidFill>
                <a:latin typeface="Cambria"/>
              </a:rPr>
              <a:t>203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22402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3"/>
                </a:solidFill>
                <a:latin typeface="Calibri"/>
              </a:rPr>
              <a:t>MTD: progression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13716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F7C8A"/>
                </a:solidFill>
                <a:latin typeface="Cambria"/>
              </a:rPr>
              <a:t>&gt;357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2240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3"/>
                </a:solidFill>
                <a:latin typeface="Calibri"/>
              </a:rPr>
              <a:t>thr0.8: no progression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2461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E4572E"/>
                </a:solidFill>
                <a:latin typeface="Cambria"/>
              </a:rPr>
              <a:t>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114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3"/>
                </a:solidFill>
                <a:latin typeface="Calibri"/>
              </a:rPr>
              <a:t>MTD: doses given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32461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F7C8A"/>
                </a:solidFill>
                <a:latin typeface="Cambria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41148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3"/>
                </a:solidFill>
                <a:latin typeface="Calibri"/>
              </a:rPr>
              <a:t>thr0.8: doses given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07492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thr0.8 gives a full dose only while burden is above 0.8 times its starting value. Some S survives and keeps R at 74% of the tumour at the end, against 99% under MTD.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Same illustrative patient as the previous slide. Burden is higher for much of the year: the price of a later regrowth.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The virtual patient: two cell populations competing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583680" cy="2468880"/>
          </a:xfrm>
          <a:prstGeom prst="roundRect">
            <a:avLst>
              <a:gd name="adj" fmla="val 4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126480" cy="818371"/>
          </a:xfrm>
          <a:prstGeom prst="rect">
            <a:avLst/>
          </a:prstGeom>
        </p:spPr>
      </p:pic>
      <p:pic>
        <p:nvPicPr>
          <p:cNvPr id="5" name="Picture 4" descr="f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34640"/>
            <a:ext cx="4754880" cy="828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46304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C8A"/>
                </a:solidFill>
                <a:latin typeface="Cambria"/>
              </a:rPr>
              <a:t>S,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4630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sensitive and resistant cells (S + R is the burden)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76272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C8A"/>
                </a:solidFill>
                <a:latin typeface="Cambria"/>
              </a:rPr>
              <a:t>r_S, r_R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7627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growth rates; r_R &lt; r_S is the cost of resistance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889504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C8A"/>
                </a:solidFill>
                <a:latin typeface="Cambria"/>
              </a:rP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88950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shared capacity: growth slows as S + R approaches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602736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C8A"/>
                </a:solidFill>
                <a:latin typeface="Cambria"/>
              </a:rPr>
              <a:t>d_S, d_R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60273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natural death (turnover)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31596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C8A"/>
                </a:solidFill>
                <a:latin typeface="Cambria"/>
              </a:rPr>
              <a:t>d_D 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31596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drug kill acts on S only; u is the drug effect (next slide)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6583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Patients are samples, not people.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Each patient is one Latin-hypercube draw of the ranges of Strobl et al. (2021): r_R/r_S 0.5 to 1, turnover 0 to 0.5 r_S, start fill 0.1 to 0.75 of K, resistant fraction 0.1% to 10%.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Check: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with those parameters our code reproduces all 14 published progression times and gains we checked, within 3%.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The policy never sees S, R or the parameters. Only total burden, with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The drug: a bolus that decays</a:t>
            </a:r>
          </a:p>
        </p:txBody>
      </p:sp>
      <p:pic>
        <p:nvPicPr>
          <p:cNvPr id="3" name="Picture 2" descr="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852160" cy="370636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0" y="146304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_p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83080"/>
            <a:ext cx="4937760" cy="380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2834640"/>
            <a:ext cx="51206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A dose is added to one compartment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at each weekly visit and cleared at 0.5 per day.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The effect saturates.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Doubling the dose does not double the kill, so a policy cannot buy unlimited effect with unlimited drug.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In the model,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a full dose gives u close to 2/3, which is where 1 - d_D u reaches 0: sensitive growth is switched off and S then declines by turnover.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Doses available to the policy: 0, 1/2 or 1 per visit. The effect u is held constant over the 7 days between visits.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The decision problem is a POMDP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291840" cy="192024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Virtual patient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hidden state: S, R, drug level C and the parameters. Evolves by the 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2926080" cy="1920240"/>
          </a:xfrm>
          <a:prstGeom prst="roundRect">
            <a:avLst>
              <a:gd name="adj" fmla="val 10000"/>
            </a:avLst>
          </a:prstGeom>
          <a:solidFill>
            <a:srgbClr val="0F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783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28600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MLP, LSTM or ODE-RNN. Memory (if any) lives inside the network.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77639" y="2103120"/>
            <a:ext cx="548640" cy="411480"/>
          </a:xfrm>
          <a:prstGeom prst="rightArrow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169163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4213D"/>
                </a:solidFill>
                <a:latin typeface="Calibri"/>
              </a:rPr>
              <a:t>o_t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3977639" y="3017520"/>
            <a:ext cx="548640" cy="411480"/>
          </a:xfrm>
          <a:prstGeom prst="leftArrow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352043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4213D"/>
                </a:solidFill>
                <a:latin typeface="Calibri"/>
              </a:rPr>
              <a:t>a_t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64592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Each week: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the policy gets o_t, a noisy log of total burden, and picks a dose a_t. The patient then evolves for 7 days. 52 weeks per episode.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11064240" cy="192024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Cambria"/>
              </a:rPr>
              <a:t>Why partially observable?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The same burden can come from very different mixes of S and R. A falling burden can mean the sensitive cells are dying while resistant ones already dominate.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5196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Cambria"/>
              </a:rPr>
              <a:t>Why memory could help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The history of burden carries information about the hidden mix. That is the case for LSTM and ODE-RNN, and what we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Observation, reward and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C8A"/>
                </a:solidFill>
                <a:latin typeface="Cambria"/>
              </a:rPr>
              <a:t>What the policy sees</a:t>
            </a:r>
          </a:p>
        </p:txBody>
      </p:sp>
      <p:pic>
        <p:nvPicPr>
          <p:cNvPr id="4" name="Picture 3" descr="f_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344168"/>
            <a:ext cx="3810079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08960" y="1947672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One number per visit: log of burden relative to the patient's start, plus 5% noise. Never S, R or the parameters. A missed visit gives no observation and no decision; the last dose continues.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C8A"/>
                </a:solidFill>
                <a:latin typeface="Cambria"/>
              </a:rPr>
              <a:t>What training rewards</a:t>
            </a:r>
          </a:p>
        </p:txBody>
      </p:sp>
      <p:pic>
        <p:nvPicPr>
          <p:cNvPr id="7" name="Picture 6" descr="f_r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596896"/>
            <a:ext cx="5626577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08960" y="3200400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Penalty for burden above 1.2 times the lowest so far, minus the price w of drug. w is 0.05, 0.1, 0.2 or 0.4; one network per 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3133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C8A"/>
                </a:solidFill>
                <a:latin typeface="Cambria"/>
              </a:rPr>
              <a:t>What we report</a:t>
            </a:r>
          </a:p>
        </p:txBody>
      </p:sp>
      <p:pic>
        <p:nvPicPr>
          <p:cNvPr id="10" name="Picture 9" descr="f_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849624"/>
            <a:ext cx="2455293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4453128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Days until progression (capped at the 357-day year) minus the same drug price. Progression: burden 20% above its lowest, for 28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840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7C8A"/>
                </a:solidFill>
                <a:latin typeface="Cambria"/>
              </a:rPr>
              <a:t>What is optimised</a:t>
            </a:r>
          </a:p>
        </p:txBody>
      </p:sp>
      <p:pic>
        <p:nvPicPr>
          <p:cNvPr id="13" name="Picture 12" descr="f_obj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5102352"/>
            <a:ext cx="5242703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0" y="5705856"/>
            <a:ext cx="8503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Standard discounted return over 52 visits, with no early termination.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The reward is a proxy for the score: it penalises burden at every visit, while the score counts days to a confirmed progression.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The four networks compared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Sees only today's measurement. The memoryless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11880" y="1783080"/>
            <a:ext cx="640080" cy="64008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Positional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10896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Today's measurement plus a clock. Tests whether knowing the time is enough.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Recurrent: carries a summary of the past in discrete steps. The standard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55448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81160" y="1783080"/>
            <a:ext cx="640080" cy="640080"/>
          </a:xfrm>
          <a:prstGeom prst="ellipse">
            <a:avLst/>
          </a:prstGeom>
          <a:solidFill>
            <a:srgbClr val="0F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ODE-RNN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310896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Hidden memory flows as a differential equation between visits. The continuous-time candidate.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Fair comparison.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Same trainer (PQN, a simple Q-learning method), same size (about 3,100 parameters), published settings, no per-network tuning, 10 seeds each. Only the architecture differs.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How we test: three robustness settings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66160" cy="265176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Tier 0: in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Test patients come from the same ranges as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566160" cy="265176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Tier 1: shifted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19456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Growth rates x1.5 and capacity x0.6: outside the training ranges.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566160" cy="265176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Tier 4: missed visits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19456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Each visit is missed with probability 20 to 50%; the last dose continues.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F7C8A"/>
                </a:solidFill>
                <a:latin typeface="Cambria"/>
              </a:rPr>
              <a:t>200 + 200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3"/>
                </a:solidFill>
                <a:latin typeface="Calibri"/>
              </a:rPr>
              <a:t>training and test patients per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4348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F7C8A"/>
                </a:solidFill>
                <a:latin typeface="Cambria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303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3"/>
                </a:solidFill>
                <a:latin typeface="Calibri"/>
              </a:rPr>
              <a:t>training seeds per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43484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F7C8A"/>
                </a:solidFill>
                <a:latin typeface="Cambria"/>
              </a:rPr>
              <a:t>95%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3035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3"/>
                </a:solidFill>
                <a:latin typeface="Calibri"/>
              </a:rPr>
              <a:t>bootstrap over seeds and patients, paired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Result 1: no continuous-time edge</a:t>
            </a:r>
          </a:p>
        </p:txBody>
      </p:sp>
      <p:pic>
        <p:nvPicPr>
          <p:cNvPr id="3" name="Picture 2" descr="fig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589520" cy="2802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21040" y="1371600"/>
            <a:ext cx="338328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Reading the plot. </a:t>
            </a:r>
            <a:r>
              <a:rPr sz="1300" b="0" i="0">
                <a:solidFill>
                  <a:srgbClr val="5B6573"/>
                </a:solidFill>
                <a:latin typeface="Calibri"/>
              </a:rPr>
              <a:t>Dot: mean score difference in days. Line: 95% interval. Right of zero favours the first-named network.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E4572E"/>
                </a:solidFill>
                <a:latin typeface="Calibri"/>
              </a:rPr>
              <a:t>ODE-RNN minus MLP: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-50.0 d [-63.5, -37.9] under the shift.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ODE-RNN minus LSTM: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-5.9 [-27.9, +19.9]: no difference.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With missed visits: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-5.4 [-24.3, +9.3]; never above a fixed-schedule MTD rule.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Headroom exists; little of it needs memory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65836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9496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573"/>
                </a:solidFill>
                <a:latin typeface="Calibri"/>
              </a:rPr>
              <a:t>Gain in days of a search on the true simulator, split by what it needs (approximate thirds).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4630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F7C8A"/>
                </a:solidFill>
                <a:latin typeface="Cambria"/>
              </a:rPr>
              <a:t>+23.1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3317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3"/>
                </a:solidFill>
                <a:latin typeface="Calibri"/>
              </a:rPr>
              <a:t>search on the true simulator over the MLP [+20.3, +25.8]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291840"/>
            <a:ext cx="40233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Only the last two bars need memory-type information: at most about 15 days. Training the recurrent networks costs 40 to 50 days. This is a split of one rule family's gain, not a proof that no memory policy could help.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Result 2: a training shortcut, found and removed</a:t>
            </a:r>
          </a:p>
        </p:txBody>
      </p:sp>
      <p:pic>
        <p:nvPicPr>
          <p:cNvPr id="3" name="Picture 2" descr="fig_short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223760" cy="3334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371600"/>
            <a:ext cx="3749039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The clock costs the MLP 57 days.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The trainer fits a time-keyed schedule instead of reacting to the tumour.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F7C8A"/>
                </a:solidFill>
                <a:latin typeface="Calibri"/>
              </a:rPr>
              <a:t>Hide the clock half of the time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and the whole cost goes: +54.4 d, tied with the MLP (-2.4 [-5.2, +0.4]).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E4572E"/>
                </a:solidFill>
                <a:latin typeface="Calibri"/>
              </a:rPr>
              <a:t>The same trick on LSTM and ODE-RNN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changes little (+4.3, +4.2 d); both stay 40 to 46 d below the MLP.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Objections we tested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383280"/>
                <a:gridCol w="4389120"/>
              </a:tblGrid>
              <a:tr h="80467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Objection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The trainer cannot use memory at all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W10: three POPGym memory tasks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LSTM beats the MLP on 2 of 3: the trainer can use memory where it pays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The LSTM is too small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V11: 5x and 22x the parameters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No recovery: still 47 to 49 d below the MLP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Only one training algorithm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V12: PPO instead of PQN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Inconclusive: the validity check failed; recurrent arms collapse to a fixed schedule in 12 and 22 of 40 runs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The networks cannot represent the policy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W11: clone a threshold policy, then fine-tune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All three can represent it; PQN fine-tuning destroys it in the recurrent arms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Each run was registered, with pass and kill criteria, before it was run.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4213D"/>
                </a:solidFill>
                <a:latin typeface="Cambria"/>
              </a:rPr>
              <a:t>A learning cost, not a representation limit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62179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573"/>
                </a:solidFill>
                <a:latin typeface="Calibri"/>
              </a:rPr>
              <a:t>Change in score (days) when PQN fine-tunes a network that already copies a good threshold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46304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F7C8A"/>
                </a:solidFill>
                <a:latin typeface="Calibri"/>
              </a:rPr>
              <a:t>Step 1.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Teach each network to copy a threshold rule by supervised learning. All three succeed (score about 284.6 d).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0F7C8A"/>
                </a:solidFill>
                <a:latin typeface="Calibri"/>
              </a:rPr>
              <a:t>Step 2.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Let PQN keep training from there. The MLP is unchanged; the LSTM loses 69 days and the ODE-RNN 88.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E4572E"/>
                </a:solidFill>
                <a:latin typeface="Calibri"/>
              </a:rPr>
              <a:t>So: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the recurrent networks can hold the good policy, but PQN's training moves them away from it. Only PQN was tested.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Limits, and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9A23B"/>
                </a:solidFill>
                <a:latin typeface="Cambria"/>
              </a:rPr>
              <a:t>Limits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One simulator family (Lotka-Volterra with competitive resistance); virtual patients; no clinical claims.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Mostly one training algorithm, untuned; recurrent networks are unstable across seeds.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Weekly visits and fixed 7/8-day ODE-RNN steps: missed visits carry no timing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E9A23B"/>
                </a:solidFill>
                <a:latin typeface="Cambria"/>
              </a:rPr>
              <a:t>Next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second training algorithm that passes the full-information check. It needs a new idea, not a re-tune.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Optional: a tighter bound on the headroom, and an MLP scaled up to match.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Anonymised code link, then submission to TMLR.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