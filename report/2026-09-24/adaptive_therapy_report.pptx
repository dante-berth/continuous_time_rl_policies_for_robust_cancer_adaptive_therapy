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7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MTD</c:v>
                </c:pt>
              </c:strCache>
            </c:strRef>
          </c:tx>
          <c:spPr>
            <a:solidFill>
              <a:srgbClr val="D1495B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332</c:v>
                </c:pt>
                <c:pt idx="1">
                  <c:v>7</c:v>
                </c:pt>
                <c:pt idx="2">
                  <c:v>357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AT50</c:v>
                </c:pt>
              </c:strCache>
            </c:strRef>
          </c:tx>
          <c:spPr>
            <a:solidFill>
              <a:srgbClr val="E09F3E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206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thr0.8</c:v>
                </c:pt>
              </c:strCache>
            </c:strRef>
          </c:tx>
          <c:spPr>
            <a:solidFill>
              <a:srgbClr val="3C6E71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335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334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8E7DBE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239</c:v>
                </c:pt>
                <c:pt idx="1">
                  <c:v>7</c:v>
                </c:pt>
                <c:pt idx="2">
                  <c:v>115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ODE-RNN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328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numbers are read from run artifacts by research/report.py; earlier facts cite RESEARCH_LOG lines. Virtual patients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ablation axis is the policy architecture; everything else in the loop is fixed. The agent only sees total burden, never the sensitive/resistant split, so this is a POMDP.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mechanistically distinct families. Treatment enters differently in each: it slows sensitive-cell growth (LV), destroys vasculature (Hahnfeldt), or kills tumour cells (Kuznetsov).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0-1: RESEARCH_LOG L13, L48, L88.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regime runs through the same closed-loop rollout. The trained networks are LV-trained (w 0.05, seed 0) and only RUN on the other two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virtual patients per model, 52 weekly visits; restricted-mean TTP = mean of TTP capped at 357 d. Illustration, not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comparison pre-registered in PREREG.md and logged in RESEARCH_LOG.md whatever the outcome. Void and invalid runs stay in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L424. Paired by patient, pooled over 3 seeds x 200 patients. Caveat: the MLP doses more, and on LV more drug alone lengthens TTP, so 'worse at equal drug' is not established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Closed-loop score = fraction of patient-visits whose greedy dose changes when another patient's observation history is swapped in. 0 = one fixed schedule for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L461. Tier 0 = the same test patients without the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read from the PDFs with page locators (literature/papers/).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W3: frontier = TTP (capped median) vs exposure across exposure weights; gaps are mean differences over the shared exposure range with a paired patient bootstrap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W3B: frontier = TTP (RMST) vs exposure across exposure weights; gaps are mean differences over the shared exposure range with a paired patient bootstrap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traps 4-6 plus the W3 ceiling; each now has an automatic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an ICLR 2027 workshop; a clean negative is still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Does a continuous-time policy dose cancer therapy more robustly?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EF3F5"/>
                </a:solidFill>
                <a:latin typeface="Calibri"/>
              </a:rPr>
              <a:t>Continuous-time RL for adaptive therapy — what we built, ran, and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EF3F5"/>
                </a:solidFill>
                <a:latin typeface="Calibri"/>
              </a:rPr>
              <a:t>Program report · 2026-09-24 · virtual patients only, no clinical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Is it the differential-equation structure that helps — or just memory?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Virtual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model + 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7168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07208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ODE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diffrax, weekly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45736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5775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936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Burden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noisy, σ = 0.05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4303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EEF3F5"/>
                </a:solidFill>
                <a:latin typeface="Calibri"/>
              </a:rPr>
              <a:t>MLP · LSTM · ODE-RNN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82911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Dose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0 · ½ · 1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memoryless — the null hypothesis</a:t>
            </a:r>
          </a:p>
        </p:txBody>
      </p:sp>
      <p:sp>
        <p:nvSpPr>
          <p:cNvPr id="26" name="Oval 25"/>
          <p:cNvSpPr/>
          <p:nvPr/>
        </p:nvSpPr>
        <p:spPr>
          <a:xfrm>
            <a:off x="4297679" y="4069080"/>
            <a:ext cx="502920" cy="50292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memory, discrete steps</a:t>
            </a:r>
          </a:p>
        </p:txBody>
      </p:sp>
      <p:sp>
        <p:nvSpPr>
          <p:cNvPr id="29" name="Oval 28"/>
          <p:cNvSpPr/>
          <p:nvPr/>
        </p:nvSpPr>
        <p:spPr>
          <a:xfrm>
            <a:off x="8046719" y="406908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19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ODE-RNN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19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 + continuous time between visits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Endpoints, always together: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time to progression (TTP: +20% over running nadir, 28-day confirmation) and cumulative drug exposure. Paired by patient, ≥ 3 seeds.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Three tumour models, three different biologies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Lotka–Volterra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dS/dt = r_S S (1 − (S+R)/K)(1 − d_D u) − d_S S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dR/dt = r_R R (1 − (S+R)/K) − d_R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S + R. Drug slows only sensitive cells; resistant cells are held back by competition — the mechanism adaptive therapy exploits.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Hahnfeldt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angiogenesis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dV/dt = −a V ln(V/K)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dK/dt = b V − d V^(2/3) K − e u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V. The limit is the vascular capacity K, not competition. Drug attacks 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596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Kuznetsov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596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immune predation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dE/dt = s + pET/(g+T) − mET − δE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dT/dt = aT(1 − bT) − nET − 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T. Effector cells hunt the tumour; oscillation and dormancy are possible. Drug kills 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Untreated, they behave nothing alike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Phase 0–1: families separable from burden alone (0.996, L48), but θ is not identifiable</a:t>
            </a:r>
          </a:p>
        </p:txBody>
      </p:sp>
      <p:pic>
        <p:nvPicPr>
          <p:cNvPr id="4" name="Picture 3" descr="01_unt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6277"/>
            <a:ext cx="11094415" cy="3328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Untreated TTP at weekly visits: LV 28 d, Hahnfeldt 7 d, Kuznetsov 14 d (L88). Only LV has dynamic range, so the architecture comparison uses LV.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Dosing regimes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Same simulator loop, same weekly visit, only the decision rule changes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64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3055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never treat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62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2783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full dose every visit — standard of care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384048" cy="384048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AT50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251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treat until burden &lt; 50% of baseline, hold until back at baseline (Zhang trial)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3C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566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thr0.8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223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treat whenever burden &gt; 0.8 × baseline — the rule Gallagher 2024's RL found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64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3055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memoryless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880360"/>
            <a:ext cx="384048" cy="384048"/>
          </a:xfrm>
          <a:prstGeom prst="ellipse">
            <a:avLst/>
          </a:prstGeom>
          <a:solidFill>
            <a:srgbClr val="8E7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62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2783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discrete-time memory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3977639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959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ODE-RNN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3251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continuous-time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LV: holding burden near 80% contains resistance</a:t>
            </a:r>
          </a:p>
        </p:txBody>
      </p:sp>
      <p:pic>
        <p:nvPicPr>
          <p:cNvPr id="3" name="Picture 2" descr="02_regimes_lotka_volter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650368"/>
            <a:ext cx="7040880" cy="442594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MLP and the 0.8 threshold rule cycle the drug and keep the tumour below baseline all year.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AT50 lets it rebound to baseline before re-treating; MTD shrinks it fastest with the most drug.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LSTM switches to half dose and drifts; the ODE-RNN holds full dose, then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Hahnfeldt: no regime changes the outcome</a:t>
            </a:r>
          </a:p>
        </p:txBody>
      </p:sp>
      <p:pic>
        <p:nvPicPr>
          <p:cNvPr id="3" name="Picture 2" descr="03_regimes_hahnfel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5877"/>
            <a:ext cx="7040880" cy="44949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tumour grows ~200× within weeks whatever the dose: every regime progresses on day 7.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This is Phase 1's resolution limit (L88): treated TTP has no dynamic range here.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W5 (mechanism shift) needs this fixed before it can be registered.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Kuznetsov: only full dose eradicates</a:t>
            </a:r>
          </a:p>
        </p:txBody>
      </p:sp>
      <p:pic>
        <p:nvPicPr>
          <p:cNvPr id="3" name="Picture 2" descr="04_regimes_kuznets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5877"/>
            <a:ext cx="7040880" cy="44949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LV-style rules treat once, see burden fall 100×, and stop while the immune balance is lost.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MTD drives the tumour to extinction; the recurrent nets suppress it at very different drug.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A threshold learned on one biology does not transfer to another.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Across 100 patients: TTP bought, and at what dose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Restricted-mean TTP (days, capped at 357) · illustration, not a registered comparison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7498079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737360"/>
            <a:ext cx="3246120" cy="4663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Lotka–Volterra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MLP 334 d at exposure 245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thr0.8 335 d at 259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MTD 332 d at 357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D1495B"/>
                </a:solidFill>
                <a:latin typeface="Calibri"/>
              </a:rPr>
              <a:t>→ the trained MLP ≈ a one-line rule, with 31% less drug than MTD.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Hahnfeldt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7 d for every regime: no signal at weekly visits.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Kuznetsov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only MTD reaches the horizon (357 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What was run,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Every comparison pre-registered; void and invalid runs kept in the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59" y="3310128"/>
            <a:ext cx="10545775" cy="36576"/>
          </a:xfrm>
          <a:prstGeom prst="rect">
            <a:avLst/>
          </a:prstGeom>
          <a:solidFill>
            <a:srgbClr val="C9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008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families separable
from burden</a:t>
            </a:r>
          </a:p>
        </p:txBody>
      </p:sp>
      <p:sp>
        <p:nvSpPr>
          <p:cNvPr id="9" name="Oval 8"/>
          <p:cNvSpPr/>
          <p:nvPr/>
        </p:nvSpPr>
        <p:spPr>
          <a:xfrm>
            <a:off x="2372810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161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161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161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simulator +
TTP rule</a:t>
            </a:r>
          </a:p>
        </p:txBody>
      </p:sp>
      <p:sp>
        <p:nvSpPr>
          <p:cNvPr id="13" name="Oval 12"/>
          <p:cNvSpPr/>
          <p:nvPr/>
        </p:nvSpPr>
        <p:spPr>
          <a:xfrm>
            <a:off x="3759612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963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VOID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963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shifted cohort
mis-built</a:t>
            </a:r>
          </a:p>
        </p:txBody>
      </p:sp>
      <p:sp>
        <p:nvSpPr>
          <p:cNvPr id="17" name="Oval 16"/>
          <p:cNvSpPr/>
          <p:nvPr/>
        </p:nvSpPr>
        <p:spPr>
          <a:xfrm>
            <a:off x="5146414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765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 / 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765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765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PPO: ODE-RNN
open-loop</a:t>
            </a:r>
          </a:p>
        </p:txBody>
      </p:sp>
      <p:sp>
        <p:nvSpPr>
          <p:cNvPr id="21" name="Oval 20"/>
          <p:cNvSpPr/>
          <p:nvPr/>
        </p:nvSpPr>
        <p:spPr>
          <a:xfrm>
            <a:off x="6533216" y="3072384"/>
            <a:ext cx="512064" cy="512064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567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1567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1495B"/>
                </a:solidFill>
                <a:latin typeface="Calibri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567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PQN: first valid
run</a:t>
            </a:r>
          </a:p>
        </p:txBody>
      </p:sp>
      <p:sp>
        <p:nvSpPr>
          <p:cNvPr id="25" name="Oval 24"/>
          <p:cNvSpPr/>
          <p:nvPr/>
        </p:nvSpPr>
        <p:spPr>
          <a:xfrm>
            <a:off x="7920018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8369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8369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8369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diagnosis on
saved policies</a:t>
            </a:r>
          </a:p>
        </p:txBody>
      </p:sp>
      <p:sp>
        <p:nvSpPr>
          <p:cNvPr id="29" name="Oval 28"/>
          <p:cNvSpPr/>
          <p:nvPr/>
        </p:nvSpPr>
        <p:spPr>
          <a:xfrm>
            <a:off x="9306820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+ LSTM arm,
frontiers</a:t>
            </a:r>
          </a:p>
        </p:txBody>
      </p:sp>
      <p:sp>
        <p:nvSpPr>
          <p:cNvPr id="33" name="Oval 32"/>
          <p:cNvSpPr/>
          <p:nvPr/>
        </p:nvSpPr>
        <p:spPr>
          <a:xfrm>
            <a:off x="10693622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01973" y="2148840"/>
            <a:ext cx="129536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1973" y="2560320"/>
            <a:ext cx="129536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1973" y="3840480"/>
            <a:ext cx="129536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fresh seeds,
RMST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Why so many invalid runs?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Each caught a way this evaluation can lie: a policy that ignores its input, a median that rewards letting patients progress, a cohort built from the unshifted parameter, a metric stuck at its ceiling. Each is now a gate in every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Phase 2c: the first valid run — the ODE-RNN loses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LV, Tier-1 shift (×1.5 growth rates, ×0.6 capacity), PQN for both arms, 3 seeds × 200 patients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D1495B"/>
                </a:solidFill>
                <a:latin typeface="Cambria"/>
              </a:rPr>
              <a:t>264 vs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patients progressing earlier vs later on the ODE-RNN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exposure weight 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D1495B"/>
                </a:solidFill>
                <a:latin typeface="Cambria"/>
              </a:rPr>
              <a:t>337 vs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patients progressing earlier vs later on the ODE-RNN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exposure weight 0.20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1F3B4D"/>
                </a:solidFill>
                <a:latin typeface="Cambria"/>
              </a:rPr>
              <a:t>-31%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drug given by the ODE-RNN (194 vs 280)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so TTP is not exposure-matched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1495B"/>
                </a:solidFill>
                <a:latin typeface="Calibri"/>
              </a:rPr>
              <a:t>Kill criterion fired: </a:t>
            </a:r>
            <a:r>
              <a:rPr sz="1600" b="0" i="0">
                <a:solidFill>
                  <a:srgbClr val="1F3B4D"/>
                </a:solidFill>
                <a:latin typeface="Calibri"/>
              </a:rPr>
              <a:t>no continuous-time edge on the clean single-model case, with either trainer (PPO or PQN). The multi-model curriculum was not built.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The recurrent arms sometimes stop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Closed-loop score of every trained cell; circled cells fail the 0.10 gate</a:t>
            </a:r>
          </a:p>
        </p:txBody>
      </p:sp>
      <p:pic>
        <p:nvPicPr>
          <p:cNvPr id="4" name="Picture 3" descr="08_val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04287"/>
            <a:ext cx="7680960" cy="30723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737360"/>
            <a:ext cx="3154680" cy="42062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920240"/>
            <a:ext cx="2743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B4D"/>
                </a:solidFill>
                <a:latin typeface="Calibri"/>
              </a:rPr>
              <a:t>Below the gate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lstm w0.4 s1: 0.098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ode_rnn w0.0 s0: 0.071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lstm w0.4 s4: 0.010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ode_rnn w0.2 s3: 0.011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D1495B"/>
                </a:solidFill>
                <a:latin typeface="Calibri"/>
              </a:rPr>
              <a:t>The MLP never fails; one recurrent cell in ~14 does — enough to invalidate every registration with an LSTM arm so far.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W1: it is a training gap, not a robustness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The same policies on the patients before the shift (Tier 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4206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Tier 0 (no shift)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D1495B"/>
                </a:solidFill>
                <a:latin typeface="Cambria"/>
              </a:rPr>
              <a:t>164 vs 10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ODE-RNN earlier vs later (w 0.05)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Tier 1 (shifted)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D1495B"/>
                </a:solidFill>
                <a:latin typeface="Cambria"/>
              </a:rPr>
              <a:t>264 vs 19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shift moves both arms, not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5257800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The MLP learned a switch: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no drug below ~0.8 × baseline, full dose above, in all 6 seeds (≥ 94% of doses explained by the current reading). The ODE-RNN doses partly from memory (64%–88%).</a:t>
            </a:r>
          </a:p>
        </p:txBody>
      </p:sp>
      <p:pic>
        <p:nvPicPr>
          <p:cNvPr id="7" name="Picture 6" descr="05_mlp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910" y="1783080"/>
            <a:ext cx="6489699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What the two closest papers actually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Read in full from the PDFs, with page locators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B4D"/>
                </a:solidFill>
                <a:latin typeface="Cambria"/>
              </a:rPr>
              <a:t>Gallagher et al. 2024, Cancer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4800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Same setting: LV, burden-only, TTP = +20%.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Their RL policy is a switch at N* = 0.83 × n₀ (Fig. 4B, p.1935) — our MLP found ~0.80.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Evaluating less often than trained lowers TTP (Fig. 3C, p.1934): predicts W4's direction.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Means over 100 evaluations; exposure not matched.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011680"/>
            <a:ext cx="365760" cy="36576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B4D"/>
                </a:solidFill>
                <a:latin typeface="Cambria"/>
              </a:rPr>
              <a:t>Kiram et al. 2026, arXiv 2605.02552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00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Recurrent TD3 380 ± 12 vs TD3 −50 ± 252 (Table I, p.5).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But: one fixed patient, no shift, means over 10 seeds.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The hidden variable is a toxicity state in the reward — not our S/R split.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Justifies an LSTM arm; not evidence that memory helps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W3: adding an LSTM 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MLP vs LSTM isolates memory; LSTM vs ODE-RNN isolates continuous time</a:t>
            </a:r>
          </a:p>
        </p:txBody>
      </p:sp>
      <p:pic>
        <p:nvPicPr>
          <p:cNvPr id="4" name="Picture 3" descr="06_w3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935"/>
            <a:ext cx="7589520" cy="30358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737360"/>
            <a:ext cx="3246120" cy="4572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Memory: LSTM − MLP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1 -182 d [-233, -136]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16% · INVALID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Continuous time: ODE − LSTM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+22 d [-41, +158]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19% · 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No verdict: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arms with an open-loop cell: lstm, ode_rnn. Gaps are descriptive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W3b: fresh seeds, restricted-mean 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Same design; the ceiling removed</a:t>
            </a:r>
          </a:p>
        </p:txBody>
      </p:sp>
      <p:pic>
        <p:nvPicPr>
          <p:cNvPr id="4" name="Picture 3" descr="07_w3b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935"/>
            <a:ext cx="7589520" cy="30358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737360"/>
            <a:ext cx="3246120" cy="4572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Memory: LSTM − MLP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1 -45 d [-59, -40]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52% · INVALID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Continuous time: ODE − LSTM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1 -5 d [-15, +12]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1% · 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No verdict: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arms with an open-loop cell: lstm, ode_rnn. Gaps are descriptive only.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Four ways this evaluation lied — each now a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916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099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An open-loop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The ODE-RNN gave all 200 patients one identical dosing history and still reported a respectable TTP (L312).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closed-loop validity ≥ 0.10 per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099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The progressor-only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Averaging only patients who progress rewards letting more of them progress; it inverted the paired result 3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min(TTP, horizon) over all 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245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 mis-built shifted cohort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006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Scaling K after building y0 put half the test cohort above capacity; NaN blow-ups scored as 'never progressed' (L242).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rebuild y0 from shifted θ; refuse NaN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245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 metric at its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Once &gt; 50% never progress, a capped median is flat at the horizon and ranks nothing (L496).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66927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restricted-mean TTP (W3b)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EEF3F5"/>
                </a:solidFill>
                <a:latin typeface="Calibri"/>
              </a:rPr>
              <a:t>Target: ICLR 2027 workshop — a clean negative is still the paper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2996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decide per-cell vs per-arm validity before any new registration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685800" cy="6858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08152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irregular visits (20% / 50% dropped) — where continuous time has a mechanical reason to help; LSTM + Δt as the strong discrete baseline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13308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mechanism shift — only if Hahnfeldt's day-7 resolution limit is fixed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507492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18464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write-up: validity across trainers, frontiers, the learned threshold rule, every run in one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