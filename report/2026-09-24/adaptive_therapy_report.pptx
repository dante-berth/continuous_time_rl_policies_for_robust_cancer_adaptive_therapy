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none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7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MTD</c:v>
                </c:pt>
              </c:strCache>
            </c:strRef>
          </c:tx>
          <c:spPr>
            <a:solidFill>
              <a:srgbClr val="D1495B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332</c:v>
                </c:pt>
                <c:pt idx="1">
                  <c:v>7</c:v>
                </c:pt>
                <c:pt idx="2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AT50</c:v>
                </c:pt>
              </c:strCache>
            </c:strRef>
          </c:tx>
          <c:spPr>
            <a:solidFill>
              <a:srgbClr val="E09F3E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206</c:v>
                </c:pt>
                <c:pt idx="1">
                  <c:v>7</c:v>
                </c:pt>
                <c:pt idx="2">
                  <c:v>29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thr0.8</c:v>
                </c:pt>
              </c:strCache>
            </c:strRef>
          </c:tx>
          <c:spPr>
            <a:solidFill>
              <a:srgbClr val="3C6E71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335</c:v>
                </c:pt>
                <c:pt idx="1">
                  <c:v>7</c:v>
                </c:pt>
                <c:pt idx="2">
                  <c:v>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MLP</c:v>
                </c:pt>
              </c:strCache>
            </c:strRef>
          </c:tx>
          <c:spPr>
            <a:solidFill>
              <a:srgbClr val="1F3B4D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334</c:v>
                </c:pt>
                <c:pt idx="1">
                  <c:v>7</c:v>
                </c:pt>
                <c:pt idx="2">
                  <c:v>29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LSTM</c:v>
                </c:pt>
              </c:strCache>
            </c:strRef>
          </c:tx>
          <c:spPr>
            <a:solidFill>
              <a:srgbClr val="8E7DBE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239</c:v>
                </c:pt>
                <c:pt idx="1">
                  <c:v>7</c:v>
                </c:pt>
                <c:pt idx="2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ODE-RNN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Sheet1!$A$2:$A$4</c:f>
              <c:strCache>
                <c:ptCount val="3"/>
                <c:pt idx="0">
                  <c:v>Lotka–Volterra</c:v>
                </c:pt>
                <c:pt idx="1">
                  <c:v>Hahnfeldt</c:v>
                </c:pt>
                <c:pt idx="2">
                  <c:v>Kuznetsov</c:v>
                </c:pt>
              </c:strCache>
            </c:strRef>
          </c:cat>
          <c:val>
            <c:numRef>
              <c:f>Sheet1!$H$2:$H$4</c:f>
              <c:numCache>
                <c:formatCode>General</c:formatCode>
                <c:ptCount val="3"/>
                <c:pt idx="0">
                  <c:v>328</c:v>
                </c:pt>
                <c:pt idx="1">
                  <c:v>7</c:v>
                </c:pt>
                <c:pt idx="2">
                  <c:v>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MLP</c:v>
                </c:pt>
              </c:strCache>
            </c:strRef>
          </c:tx>
          <c:spPr>
            <a:solidFill>
              <a:srgbClr val="1F3B4D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281.6</c:v>
                </c:pt>
                <c:pt idx="1">
                  <c:v>246.8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thr0.8</c:v>
                </c:pt>
              </c:strCache>
            </c:strRef>
          </c:tx>
          <c:spPr>
            <a:solidFill>
              <a:srgbClr val="3C6E71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279.8</c:v>
                </c:pt>
                <c:pt idx="1">
                  <c:v>245.9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MTD</c:v>
                </c:pt>
              </c:strCache>
            </c:strRef>
          </c:tx>
          <c:spPr>
            <a:solidFill>
              <a:srgbClr val="D1495B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258.8</c:v>
                </c:pt>
                <c:pt idx="1">
                  <c:v>223.9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LSTM</c:v>
                </c:pt>
              </c:strCache>
            </c:strRef>
          </c:tx>
          <c:spPr>
            <a:solidFill>
              <a:srgbClr val="8E7DBE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207.9</c:v>
                </c:pt>
                <c:pt idx="1">
                  <c:v>164.0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ODE-RNN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196.9</c:v>
                </c:pt>
                <c:pt idx="1">
                  <c:v>154.5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AT50</c:v>
                </c:pt>
              </c:strCache>
            </c:strRef>
          </c:tx>
          <c:spPr>
            <a:solidFill>
              <a:srgbClr val="E09F3E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152.1</c:v>
                </c:pt>
                <c:pt idx="1">
                  <c:v>124.6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none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Tier 0 (no shift)</c:v>
                </c:pt>
                <c:pt idx="1">
                  <c:v>Tier 1 (shifted)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0">
                  <c:v>139.8</c:v>
                </c:pt>
                <c:pt idx="1">
                  <c:v>97.9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mean U over w (days)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 numbers are read from run artifacts by research/report.py; earlier facts cite RESEARCH_LOG lines. Virtual patients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ablation axis is the policy architecture; everything else in the loop is fixed. The agent only sees total burden, never the sensitive/resistant split, so this is a POMDP.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mechanistically distinct families. Treatment enters differently in each: it slows sensitive-cell growth (LV), destroys vasculature (Hahnfeldt), or kills tumour cells (Kuznetsov).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0-1: RESEARCH_LOG L13, L48, L88.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regime runs through the same closed-loop rollout. The trained networks are LV-trained (w 0.05, seed 0) and only RUN on the other two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Illustration, not a registered result: the patient whose untreated TTP is closest to the median of 100 sampled. Networks trained on LV only. research/deck_figures.py.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Illustration, not a registered result: the patient whose untreated TTP is closest to the median of 100 sampled. Networks trained on LV only. research/deck_figures.py.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Illustration, not a registered result: the patient whose untreated TTP is closest to the median of 100 sampled. Networks trained on LV only. research/deck_figures.py.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 virtual patients per model, 52 weekly visits; restricted-mean TTP = mean of TTP capped at 357 d. Illustration, not registered.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comparison pre-registered in PREREG.md and logged in RESEARCH_LOG.md whatever the outcome. Void and invalid runs stay in the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L424. Paired by patient, pooled over 3 seeds x 200 patients. Caveat: the MLP doses more, and on LV more drug alone lengthens TTP, so 'worse at equal drug' is not established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score = fraction of patient-visits whose greedy dose changes when another patient's observation history is swapped in. 0 = one fixed schedule for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L461. Tier 0 = the same test patients without the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read from the PDFs with page locators (literature/papers/).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W3: frontier = TTP (capped median) vs exposure across exposure weights; gaps are mean differences over the shared exposure range with a paired patient bootstrap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W3B: frontier = TTP (RMST) vs exposure across exposure weights; gaps are mean differences over the shared exposure range with a paired patient bootstrap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PREREG W3c: per-cell validity, 5 fresh seeds, primary = paired U = min(TTP, 357) - w * exposure, the survival and exposure terms each cell was trained to maximise, averaged over w. Rules are descriptive reference points on the same patients.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exposure weight. At w = 0.40 both recurrent arms score below never treating on Tier 1; the ODE-RNN beats the LSTM at w 0.10 and 0.40 but loses badly at 0.20.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traps 4-6 plus the W3 ceiling; each now has an automatic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Target: an ICLR 2027 workshop; a clean negative is still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Does a continuous-time policy dose cancer therapy more robustly?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29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EF3F5"/>
                </a:solidFill>
                <a:latin typeface="Calibri"/>
              </a:rPr>
              <a:t>Continuous-time RL for adaptive therapy — what we built, ran, and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760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F5"/>
                </a:solidFill>
                <a:latin typeface="Calibri"/>
              </a:rPr>
              <a:t>Program report · 2026-09-24 · virtual patients only, no clinical claims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Is it the differential-equation structure that helps — or just memory?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Virtual patient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model + 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87168" y="2624328"/>
            <a:ext cx="256031" cy="274320"/>
          </a:xfrm>
          <a:prstGeom prst="rightArrow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07208" y="214884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4368" y="23774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ODE solver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28346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diffrax, weekly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45736" y="2624328"/>
            <a:ext cx="256031" cy="274320"/>
          </a:xfrm>
          <a:prstGeom prst="rightArrow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5" y="214884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02936" y="23774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Burden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2936" y="28346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noisy, σ = 0.05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04303" y="2624328"/>
            <a:ext cx="256031" cy="274320"/>
          </a:xfrm>
          <a:prstGeom prst="rightArrow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214884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23774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1504" y="28346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EEF3F5"/>
                </a:solidFill>
                <a:latin typeface="Calibri"/>
              </a:rPr>
              <a:t>MLP · LSTM · ODE-RNN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62872" y="2624328"/>
            <a:ext cx="256031" cy="274320"/>
          </a:xfrm>
          <a:prstGeom prst="rightArrow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82911" y="214884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20072" y="23774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Dose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2834640"/>
            <a:ext cx="16001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0 · ½ · 1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069080"/>
            <a:ext cx="502920" cy="50292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0416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MLP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4348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memoryless — the null hypothesis</a:t>
            </a:r>
          </a:p>
        </p:txBody>
      </p:sp>
      <p:sp>
        <p:nvSpPr>
          <p:cNvPr id="26" name="Oval 25"/>
          <p:cNvSpPr/>
          <p:nvPr/>
        </p:nvSpPr>
        <p:spPr>
          <a:xfrm>
            <a:off x="4297679" y="4069080"/>
            <a:ext cx="502920" cy="50292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79" y="40416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LSTM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79" y="44348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memory, discrete steps</a:t>
            </a:r>
          </a:p>
        </p:txBody>
      </p:sp>
      <p:sp>
        <p:nvSpPr>
          <p:cNvPr id="29" name="Oval 28"/>
          <p:cNvSpPr/>
          <p:nvPr/>
        </p:nvSpPr>
        <p:spPr>
          <a:xfrm>
            <a:off x="8046719" y="4069080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19" y="40416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ODE-RNN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19" y="44348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memory + continuous time between visits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B4D"/>
                </a:solidFill>
                <a:latin typeface="Calibri"/>
              </a:rPr>
              <a:t>Endpoints, always together: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time to progression (TTP: +20% over running nadir, 28-day confirmation) and cumulative drug exposure. Paired by patient, ≥ 3 seeds.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Three tumour models, three different biologies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484778" cy="484632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00200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F3B4D"/>
                </a:solidFill>
                <a:latin typeface="Cambria"/>
              </a:rPr>
              <a:t>Lotka–Volterra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05740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D1495B"/>
                </a:solidFill>
                <a:latin typeface="Calibr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51760"/>
            <a:ext cx="293613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1">
                <a:solidFill>
                  <a:srgbClr val="1F3B4D"/>
                </a:solidFill>
                <a:latin typeface="Cambria"/>
              </a:rPr>
              <a:t>dS/dt = r_S S (1 − (S+R)/K)(1 − d_D u) − d_S S</a:t>
            </a:r>
          </a:p>
          <a:p>
            <a:pPr algn="l">
              <a:spcAft>
                <a:spcPts val="1000"/>
              </a:spcAft>
            </a:pPr>
            <a:r>
              <a:rPr sz="1500" b="0" i="1">
                <a:solidFill>
                  <a:srgbClr val="1F3B4D"/>
                </a:solidFill>
                <a:latin typeface="Cambria"/>
              </a:rPr>
              <a:t>dR/dt = r_R R (1 − (S+R)/K) − d_R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069080"/>
            <a:ext cx="293613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Observed: S + R. Drug slows only sensitive cells; resistant cells are held back by competition — the mechanism adaptive therapy exploits.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3458" y="1371600"/>
            <a:ext cx="3484778" cy="484632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600200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F3B4D"/>
                </a:solidFill>
                <a:latin typeface="Cambria"/>
              </a:rPr>
              <a:t>Hahnfeldt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05740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D1495B"/>
                </a:solidFill>
                <a:latin typeface="Calibri"/>
              </a:rPr>
              <a:t>angiogenesis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651760"/>
            <a:ext cx="293613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1">
                <a:solidFill>
                  <a:srgbClr val="1F3B4D"/>
                </a:solidFill>
                <a:latin typeface="Cambria"/>
              </a:rPr>
              <a:t>dV/dt = −a V ln(V/K)</a:t>
            </a:r>
          </a:p>
          <a:p>
            <a:pPr algn="l">
              <a:spcAft>
                <a:spcPts val="1000"/>
              </a:spcAft>
            </a:pPr>
            <a:r>
              <a:rPr sz="1500" b="0" i="1">
                <a:solidFill>
                  <a:srgbClr val="1F3B4D"/>
                </a:solidFill>
                <a:latin typeface="Cambria"/>
              </a:rPr>
              <a:t>dK/dt = b V − d V^(2/3) K − e u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4069080"/>
            <a:ext cx="293613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Observed: V. The limit is the vascular capacity K, not competition. Drug attacks 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1371600"/>
            <a:ext cx="3484778" cy="484632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2596" y="1600200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F3B4D"/>
                </a:solidFill>
                <a:latin typeface="Cambria"/>
              </a:rPr>
              <a:t>Kuznetsov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2596" y="205740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D1495B"/>
                </a:solidFill>
                <a:latin typeface="Calibri"/>
              </a:rPr>
              <a:t>immune predation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596" y="2651760"/>
            <a:ext cx="293613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1">
                <a:solidFill>
                  <a:srgbClr val="1F3B4D"/>
                </a:solidFill>
                <a:latin typeface="Cambria"/>
              </a:rPr>
              <a:t>dE/dt = s + pET/(g+T) − mET − δE</a:t>
            </a:r>
          </a:p>
          <a:p>
            <a:pPr algn="l">
              <a:spcAft>
                <a:spcPts val="1000"/>
              </a:spcAft>
            </a:pPr>
            <a:r>
              <a:rPr sz="1500" b="0" i="1">
                <a:solidFill>
                  <a:srgbClr val="1F3B4D"/>
                </a:solidFill>
                <a:latin typeface="Cambria"/>
              </a:rPr>
              <a:t>dT/dt = aT(1 − bT) − nET − 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4069080"/>
            <a:ext cx="293613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Observed: T. Effector cells hunt the tumour; oscillation and dormancy are possible. Drug kills 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Untreated, they behave nothing alike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Phase 0–1: families separable from burden alone (0.996, L48), but θ is not identifiable</a:t>
            </a:r>
          </a:p>
        </p:txBody>
      </p:sp>
      <p:pic>
        <p:nvPicPr>
          <p:cNvPr id="4" name="Picture 3" descr="01_untre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77"/>
            <a:ext cx="11094415" cy="33283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Untreated TTP at weekly visits: LV 28 d, Hahnfeldt 7 d, Kuznetsov 14 d (L88). Only LV has dynamic range, so the architecture comparison uses LV.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Dosing regimes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Same simulator loop, same weekly visit, only the decision rule changes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384048" cy="384048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76479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none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3055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never treat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620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MTD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2783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full dose every visit — standard of care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977639"/>
            <a:ext cx="384048" cy="384048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5935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AT50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2511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treat until burden &lt; 50% of baseline, hold until back at baseline (Zhang trial)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3C6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056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thr0.8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2239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treat whenever burden &gt; 0.8 × baseline — the rule Gallagher 2024's RL found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1783080"/>
            <a:ext cx="384048" cy="384048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176479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MLP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13055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trained, memoryless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880360"/>
            <a:ext cx="384048" cy="384048"/>
          </a:xfrm>
          <a:prstGeom prst="ellipse">
            <a:avLst/>
          </a:prstGeom>
          <a:solidFill>
            <a:srgbClr val="8E7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8620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LSTM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22783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trained, discrete-time memory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3977639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95935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ODE-RNN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32511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trained, continuous-time memory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LV: holding burden near 80% contains resistance</a:t>
            </a:r>
          </a:p>
        </p:txBody>
      </p:sp>
      <p:pic>
        <p:nvPicPr>
          <p:cNvPr id="3" name="Picture 2" descr="02_regimes_lotka_volter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650368"/>
            <a:ext cx="7040880" cy="4425942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001000" y="160020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158191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MLP and the 0.8 threshold rule cycle the drug and keep the tumour below baseline all year.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315468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313639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AT50 lets it rebound to baseline before re-treating; MTD shrinks it fastest with the most drug.</a:t>
            </a:r>
          </a:p>
        </p:txBody>
      </p:sp>
      <p:sp>
        <p:nvSpPr>
          <p:cNvPr id="8" name="Oval 7"/>
          <p:cNvSpPr/>
          <p:nvPr/>
        </p:nvSpPr>
        <p:spPr>
          <a:xfrm>
            <a:off x="8001000" y="470916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69087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The LSTM switches to half dose and drifts; the ODE-RNN holds full dose, then half.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Hahnfeldt: no regime changes the outcome</a:t>
            </a:r>
          </a:p>
        </p:txBody>
      </p:sp>
      <p:pic>
        <p:nvPicPr>
          <p:cNvPr id="3" name="Picture 2" descr="03_regimes_hahnfel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15877"/>
            <a:ext cx="7040880" cy="4494925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001000" y="160020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158191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The tumour grows ~200× within weeks whatever the dose: every regime progresses on day 7.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315468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313639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This is Phase 1's resolution limit (L88): treated TTP has no dynamic range here.</a:t>
            </a:r>
          </a:p>
        </p:txBody>
      </p:sp>
      <p:sp>
        <p:nvSpPr>
          <p:cNvPr id="8" name="Oval 7"/>
          <p:cNvSpPr/>
          <p:nvPr/>
        </p:nvSpPr>
        <p:spPr>
          <a:xfrm>
            <a:off x="8001000" y="470916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69087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W5 (mechanism shift) needs this fixed before it can be registered.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Kuznetsov: only full dose eradicates</a:t>
            </a:r>
          </a:p>
        </p:txBody>
      </p:sp>
      <p:pic>
        <p:nvPicPr>
          <p:cNvPr id="3" name="Picture 2" descr="04_regimes_kuznets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15877"/>
            <a:ext cx="7040880" cy="4494925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001000" y="160020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158191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LV-style rules treat once, see burden fall 100×, and stop while the immune balance is lost.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315468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313639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MTD drives the tumour to extinction; the recurrent nets suppress it at very different drug.</a:t>
            </a:r>
          </a:p>
        </p:txBody>
      </p:sp>
      <p:sp>
        <p:nvSpPr>
          <p:cNvPr id="8" name="Oval 7"/>
          <p:cNvSpPr/>
          <p:nvPr/>
        </p:nvSpPr>
        <p:spPr>
          <a:xfrm>
            <a:off x="8001000" y="4709160"/>
            <a:ext cx="411480" cy="411480"/>
          </a:xfrm>
          <a:prstGeom prst="ellipse">
            <a:avLst/>
          </a:prstGeom>
          <a:solidFill>
            <a:srgbClr val="1F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69087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A threshold learned on one biology does not transfer to another.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Across 100 patients: TTP bought, and at what dose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Restricted-mean TTP (days, capped at 357) · illustration, not a registered comparison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737360"/>
          <a:ext cx="7498079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737360"/>
            <a:ext cx="3246120" cy="466344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1080" y="1920240"/>
            <a:ext cx="2834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F3B4D"/>
                </a:solidFill>
                <a:latin typeface="Calibri"/>
              </a:rPr>
              <a:t>Lotka–Volterra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MLP 334 d at exposure 245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thr0.8 335 d at 259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MTD 332 d at 357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D1495B"/>
                </a:solidFill>
                <a:latin typeface="Calibri"/>
              </a:rPr>
              <a:t>→ the trained MLP ≈ a one-line rule, with 31% less drug than MTD.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F3B4D"/>
                </a:solidFill>
                <a:latin typeface="Calibri"/>
              </a:rPr>
              <a:t>Hahnfeldt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7 d for every regime: no signal at weekly visits.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F3B4D"/>
                </a:solidFill>
                <a:latin typeface="Calibri"/>
              </a:rPr>
              <a:t>Kuznetsov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only MTD reaches the horizon (357 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What was run, in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Every comparison pre-registered; void and invalid runs kept in the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59" y="3310128"/>
            <a:ext cx="10545775" cy="36576"/>
          </a:xfrm>
          <a:prstGeom prst="rect">
            <a:avLst/>
          </a:prstGeom>
          <a:solidFill>
            <a:srgbClr val="C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8964" y="3072384"/>
            <a:ext cx="512064" cy="51206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59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59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2A9D8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59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families separable
from burden</a:t>
            </a:r>
          </a:p>
        </p:txBody>
      </p:sp>
      <p:sp>
        <p:nvSpPr>
          <p:cNvPr id="9" name="Oval 8"/>
          <p:cNvSpPr/>
          <p:nvPr/>
        </p:nvSpPr>
        <p:spPr>
          <a:xfrm>
            <a:off x="2141677" y="3072384"/>
            <a:ext cx="512064" cy="51206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7072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7072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2A9D8F"/>
                </a:solidFill>
                <a:latin typeface="Calibri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7072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simulator +
TTP rule</a:t>
            </a:r>
          </a:p>
        </p:txBody>
      </p:sp>
      <p:sp>
        <p:nvSpPr>
          <p:cNvPr id="13" name="Oval 12"/>
          <p:cNvSpPr/>
          <p:nvPr/>
        </p:nvSpPr>
        <p:spPr>
          <a:xfrm>
            <a:off x="3374390" y="3072384"/>
            <a:ext cx="512064" cy="512064"/>
          </a:xfrm>
          <a:prstGeom prst="ellipse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9785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9785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5F6B73"/>
                </a:solidFill>
                <a:latin typeface="Calibri"/>
              </a:rPr>
              <a:t>VOID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9785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shifted cohort
mis-built</a:t>
            </a:r>
          </a:p>
        </p:txBody>
      </p:sp>
      <p:sp>
        <p:nvSpPr>
          <p:cNvPr id="17" name="Oval 16"/>
          <p:cNvSpPr/>
          <p:nvPr/>
        </p:nvSpPr>
        <p:spPr>
          <a:xfrm>
            <a:off x="4607102" y="3072384"/>
            <a:ext cx="512064" cy="512064"/>
          </a:xfrm>
          <a:prstGeom prst="ellipse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2498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Phase 2 / 2b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2498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5F6B73"/>
                </a:solidFill>
                <a:latin typeface="Calibri"/>
              </a:rPr>
              <a:t>INVALID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2498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PPO: ODE-RNN
open-loop</a:t>
            </a:r>
          </a:p>
        </p:txBody>
      </p:sp>
      <p:sp>
        <p:nvSpPr>
          <p:cNvPr id="21" name="Oval 20"/>
          <p:cNvSpPr/>
          <p:nvPr/>
        </p:nvSpPr>
        <p:spPr>
          <a:xfrm>
            <a:off x="5839815" y="3072384"/>
            <a:ext cx="512064" cy="512064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5211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Phase 2c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5211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1495B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5211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PQN: first valid
run</a:t>
            </a:r>
          </a:p>
        </p:txBody>
      </p:sp>
      <p:sp>
        <p:nvSpPr>
          <p:cNvPr id="25" name="Oval 24"/>
          <p:cNvSpPr/>
          <p:nvPr/>
        </p:nvSpPr>
        <p:spPr>
          <a:xfrm>
            <a:off x="7072528" y="3072384"/>
            <a:ext cx="512064" cy="51206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7924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W1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7924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2A9D8F"/>
                </a:solidFill>
                <a:latin typeface="Calibri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7924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diagnosis on
saved policies</a:t>
            </a:r>
          </a:p>
        </p:txBody>
      </p:sp>
      <p:sp>
        <p:nvSpPr>
          <p:cNvPr id="29" name="Oval 28"/>
          <p:cNvSpPr/>
          <p:nvPr/>
        </p:nvSpPr>
        <p:spPr>
          <a:xfrm>
            <a:off x="8305241" y="3072384"/>
            <a:ext cx="512064" cy="512064"/>
          </a:xfrm>
          <a:prstGeom prst="ellipse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0636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W3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0636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5F6B73"/>
                </a:solidFill>
                <a:latin typeface="Calibri"/>
              </a:rPr>
              <a:t>INVALID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0636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+ LSTM arm,
frontiers</a:t>
            </a:r>
          </a:p>
        </p:txBody>
      </p:sp>
      <p:sp>
        <p:nvSpPr>
          <p:cNvPr id="33" name="Oval 32"/>
          <p:cNvSpPr/>
          <p:nvPr/>
        </p:nvSpPr>
        <p:spPr>
          <a:xfrm>
            <a:off x="9537954" y="3072384"/>
            <a:ext cx="512064" cy="512064"/>
          </a:xfrm>
          <a:prstGeom prst="ellipse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23349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W3b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3349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5F6B73"/>
                </a:solidFill>
                <a:latin typeface="Calibri"/>
              </a:rPr>
              <a:t>INVALID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3349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fresh seeds,
RMST</a:t>
            </a:r>
          </a:p>
        </p:txBody>
      </p:sp>
      <p:sp>
        <p:nvSpPr>
          <p:cNvPr id="37" name="Oval 36"/>
          <p:cNvSpPr/>
          <p:nvPr/>
        </p:nvSpPr>
        <p:spPr>
          <a:xfrm>
            <a:off x="10770666" y="3072384"/>
            <a:ext cx="512064" cy="512064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6062" y="2148840"/>
            <a:ext cx="1141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W3c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56062" y="2560320"/>
            <a:ext cx="11412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1495B"/>
                </a:solidFill>
                <a:latin typeface="Calibri"/>
              </a:rPr>
              <a:t>FAIL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56062" y="3840480"/>
            <a:ext cx="1141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per-cell validity,
trained objective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120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B4D"/>
                </a:solidFill>
                <a:latin typeface="Calibri"/>
              </a:rPr>
              <a:t>Why so many invalid runs?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Each caught a way this evaluation can lie: a policy that ignores its input, a median that rewards letting patients progress, a cohort built from the unshifted parameter, a metric stuck at its ceiling. Each is now a gate in every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Phase 2c: the first valid run — the ODE-RNN loses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LV, Tier-1 shift (×1.5 growth rates, ×0.6 capacity), PQN for both arms, 3 seeds × 200 patients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5740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D1495B"/>
                </a:solidFill>
                <a:latin typeface="Cambria"/>
              </a:rPr>
              <a:t>264 vs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3B4D"/>
                </a:solidFill>
                <a:latin typeface="Calibri"/>
              </a:rPr>
              <a:t>patients progressing earlier vs later on the ODE-RNN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11480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F6B73"/>
                </a:solidFill>
                <a:latin typeface="Calibri"/>
              </a:rPr>
              <a:t>exposure weight 0.05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82880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205740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D1495B"/>
                </a:solidFill>
                <a:latin typeface="Cambria"/>
              </a:rPr>
              <a:t>337 vs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3154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3B4D"/>
                </a:solidFill>
                <a:latin typeface="Calibri"/>
              </a:rPr>
              <a:t>patients progressing earlier vs later on the ODE-RNN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411480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F6B73"/>
                </a:solidFill>
                <a:latin typeface="Calibri"/>
              </a:rPr>
              <a:t>exposure weight 0.20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5740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F3B4D"/>
                </a:solidFill>
                <a:latin typeface="Cambria"/>
              </a:rPr>
              <a:t>-31%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154680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3B4D"/>
                </a:solidFill>
                <a:latin typeface="Calibri"/>
              </a:rPr>
              <a:t>drug given by the ODE-RNN (194 vs 280)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11480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F6B73"/>
                </a:solidFill>
                <a:latin typeface="Calibri"/>
              </a:rPr>
              <a:t>so TTP is not exposure-matched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1495B"/>
                </a:solidFill>
                <a:latin typeface="Calibri"/>
              </a:rPr>
              <a:t>Kill criterion fired: </a:t>
            </a:r>
            <a:r>
              <a:rPr sz="1600" b="0" i="0">
                <a:solidFill>
                  <a:srgbClr val="1F3B4D"/>
                </a:solidFill>
                <a:latin typeface="Calibri"/>
              </a:rPr>
              <a:t>no continuous-time edge on the clean single-model case, with either trainer (PPO or PQN). The multi-model curriculum was not built.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The recurrent arms sometimes stop listening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Closed-loop score of every trained cell; circled cells fail the 0.10 gate</a:t>
            </a:r>
          </a:p>
        </p:txBody>
      </p:sp>
      <p:pic>
        <p:nvPicPr>
          <p:cNvPr id="4" name="Picture 3" descr="08_valid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04287"/>
            <a:ext cx="7680960" cy="307238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737360"/>
            <a:ext cx="3154680" cy="420624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1920240"/>
            <a:ext cx="27432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B4D"/>
                </a:solidFill>
                <a:latin typeface="Calibri"/>
              </a:rPr>
              <a:t>Below the gate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 lstm w0.4 s1: 0.098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 ode_rnn w0.0 s0: 0.071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W3B lstm w0.4 s4: 0.010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W3B ode_rnn w0.2 s3: 0.011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W3C lstm w0.1 s7: 0.095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W3C lstm w0.2 s8: 0.068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W3C ode_rnn w0.1 s8: 0.096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D1495B"/>
                </a:solidFill>
                <a:latin typeface="Calibri"/>
              </a:rPr>
              <a:t>The MLP never fails; 7 recurrent cells have. W3c's per-cell rule excludes such cells instead of voiding the arm.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W1: it is a training gap, not a robustness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The same policies on the patients before the shift (Tier 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206240" cy="448056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Tier 0 (no shift)</a:t>
            </a:r>
          </a:p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D1495B"/>
                </a:solidFill>
                <a:latin typeface="Cambria"/>
              </a:rPr>
              <a:t>164 vs 10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ODE-RNN earlier vs later (w 0.05)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libri"/>
              </a:rPr>
              <a:t>Tier 1 (shifted)</a:t>
            </a:r>
          </a:p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D1495B"/>
                </a:solidFill>
                <a:latin typeface="Cambria"/>
              </a:rPr>
              <a:t>264 vs 19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the shift moves both arms, not 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5257800"/>
            <a:ext cx="6492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3B4D"/>
                </a:solidFill>
                <a:latin typeface="Calibri"/>
              </a:rPr>
              <a:t>The MLP learned a switch: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no drug below ~0.8 × baseline, full dose above, in all 6 seeds (≥ 94% of doses explained by the current reading). The ODE-RNN doses partly from memory (64%–88%).</a:t>
            </a:r>
          </a:p>
        </p:txBody>
      </p:sp>
      <p:pic>
        <p:nvPicPr>
          <p:cNvPr id="7" name="Picture 6" descr="05_mlp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910" y="1783080"/>
            <a:ext cx="6489699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What the two closest papers actually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Read in full from the PDFs, with page locators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201168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B4D"/>
                </a:solidFill>
                <a:latin typeface="Cambria"/>
              </a:rPr>
              <a:t>Gallagher et al. 2024, Cancer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43200"/>
            <a:ext cx="48006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Same setting: LV, burden-only, TTP = +20%.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Their RL policy is a switch at N* = 0.83 × n₀ (Fig. 4B, p.1935) — our MLP found ~0.80.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Evaluating less often than trained lowers TTP (Fig. 3C, p.1934): predicts W4's direction.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Means over 100 evaluations; exposure not matched.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2011680"/>
            <a:ext cx="365760" cy="36576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B4D"/>
                </a:solidFill>
                <a:latin typeface="Cambria"/>
              </a:rPr>
              <a:t>Kiram et al. 2026, arXiv 2605.02552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006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D1495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Recurrent TD3 380 ± 12 vs TD3 −50 ± 252 (Table I, p.5).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D1495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But: one fixed patient, no shift, means over 10 seeds.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D1495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The hidden variable is a toxicity state in the reward — not our S/R split.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D1495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Justifies an LSTM arm; not evidence that memory helps 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W3: adding an LSTM 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MLP vs LSTM isolates memory; LSTM vs ODE-RNN isolates continuous time</a:t>
            </a:r>
          </a:p>
        </p:txBody>
      </p:sp>
      <p:pic>
        <p:nvPicPr>
          <p:cNvPr id="4" name="Picture 3" descr="06_w3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3935"/>
            <a:ext cx="7589520" cy="303580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737360"/>
            <a:ext cx="3246120" cy="4572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1080" y="192024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Memory: LSTM − MLP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Tier 1 -182 d [-233, -136]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overlap 16% · INVALID</a:t>
            </a:r>
          </a:p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Continuous time: ODE − LSTM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Tier 1 +22 d [-41, +158]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overlap 19% · INVALID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7589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1495B"/>
                </a:solidFill>
                <a:latin typeface="Calibri"/>
              </a:rPr>
              <a:t>No verdict: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arms with an open-loop cell: lstm, ode_rnn. Gaps are descriptive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W3b: fresh seeds, restricted-mean TTP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Same design; the ceiling removed</a:t>
            </a:r>
          </a:p>
        </p:txBody>
      </p:sp>
      <p:pic>
        <p:nvPicPr>
          <p:cNvPr id="4" name="Picture 3" descr="07_w3b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3935"/>
            <a:ext cx="7589520" cy="303580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737360"/>
            <a:ext cx="3246120" cy="4572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1080" y="192024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Memory: LSTM − MLP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Tier 1 -45 d [-59, -40]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overlap 52% · INVALID</a:t>
            </a:r>
          </a:p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1F3B4D"/>
                </a:solidFill>
                <a:latin typeface="Calibri"/>
              </a:rPr>
              <a:t>Continuous time: ODE − LSTM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Tier 1 -5 d [-15, +12]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F3B4D"/>
                </a:solidFill>
                <a:latin typeface="Calibri"/>
              </a:rPr>
              <a:t>overlap 1% · INVALID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7589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1495B"/>
                </a:solidFill>
                <a:latin typeface="Calibri"/>
              </a:rPr>
              <a:t>No verdict: </a:t>
            </a:r>
            <a:r>
              <a:rPr sz="1400" b="0" i="0">
                <a:solidFill>
                  <a:srgbClr val="1F3B4D"/>
                </a:solidFill>
                <a:latin typeface="Calibri"/>
              </a:rPr>
              <a:t>arms with an open-loop cell: lstm, ode_rnn. Gaps are descriptive only.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W3c: memory hurts, continuous time hurts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First valid three-arm run · trained objective U = TTP − w · exposure, paired per patient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737360"/>
          <a:ext cx="694944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1737360"/>
            <a:ext cx="3794760" cy="4572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92024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B4D"/>
                </a:solidFill>
                <a:latin typeface="Calibri"/>
              </a:rPr>
              <a:t>Memory: LSTM − MLP</a:t>
            </a:r>
          </a:p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D1495B"/>
                </a:solidFill>
                <a:latin typeface="Cambria"/>
              </a:rPr>
              <a:t>-82.9 d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  [-88, -78] Tier 1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Tier 0: -73.5 d · FAILS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B4D"/>
                </a:solidFill>
                <a:latin typeface="Calibri"/>
              </a:rPr>
              <a:t>Continuous time: ODE − LSTM</a:t>
            </a:r>
          </a:p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D1495B"/>
                </a:solidFill>
                <a:latin typeface="Cambria"/>
              </a:rPr>
              <a:t>-15.7 d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  [-20, -11] Tier 1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3B4D"/>
                </a:solidFill>
                <a:latin typeface="Calibri"/>
              </a:rPr>
              <a:t>Tier 0: -16.7 d · FAILS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B4D"/>
                </a:solidFill>
                <a:latin typeface="Calibri"/>
              </a:rPr>
              <a:t>Excluded cells: 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3/60, none from the MLP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1495B"/>
                </a:solidFill>
                <a:latin typeface="Calibri"/>
              </a:rPr>
              <a:t>The MLP only ties the one-line 0.8 × baseline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W3c per exposure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3"/>
                </a:solidFill>
                <a:latin typeface="Calibri"/>
              </a:rPr>
              <a:t>Dashed = fixed rules, solid = trained policies</a:t>
            </a:r>
          </a:p>
        </p:txBody>
      </p:sp>
      <p:pic>
        <p:nvPicPr>
          <p:cNvPr id="4" name="Picture 3" descr="09_w3c_ut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1873"/>
            <a:ext cx="11094415" cy="40343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3"/>
                </a:solidFill>
                <a:latin typeface="Calibri"/>
              </a:rPr>
              <a:t>The gap is present without the shift (Tier 0), so it is a controller-quality gap, not a robustness gap — the same shape W1 found for Phase 2c.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F3B4D"/>
                </a:solidFill>
                <a:latin typeface="Cambria"/>
              </a:rPr>
              <a:t>Four ways this evaluation lied — each now a gate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1691640"/>
            <a:ext cx="457200" cy="4572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70992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mbria"/>
              </a:rPr>
              <a:t>An open-loop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The ODE-RNN gave all 200 patients one identical dosing history and still reported a respectable TTP (L312).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154680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A9D8F"/>
                </a:solidFill>
                <a:latin typeface="Calibri"/>
              </a:rPr>
              <a:t>Fix: 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closed-loop validity ≥ 0.10 per cell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691640"/>
            <a:ext cx="457200" cy="4572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70992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mbria"/>
              </a:rPr>
              <a:t>The progressor-only median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Averaging only patients who progress rewards letting more of them progress; it inverted the paired result 3 times.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A9D8F"/>
                </a:solidFill>
                <a:latin typeface="Calibri"/>
              </a:rPr>
              <a:t>Fix: 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min(TTP, horizon) over all patients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22452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mbria"/>
              </a:rPr>
              <a:t>A mis-built shifted cohort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80060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Scaling K after building y0 put half the test cohort above capacity; NaN blow-ups scored as 'never progressed' (L242).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669279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A9D8F"/>
                </a:solidFill>
                <a:latin typeface="Calibri"/>
              </a:rPr>
              <a:t>Fix: 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rebuild y0 from shifted θ; refuse NaN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319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EE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206240"/>
            <a:ext cx="457200" cy="4572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22452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B4D"/>
                </a:solidFill>
                <a:latin typeface="Cambria"/>
              </a:rPr>
              <a:t>A metric at its ceiling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0060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3"/>
                </a:solidFill>
                <a:latin typeface="Calibri"/>
              </a:rPr>
              <a:t>Once &gt; 50% never progress, a capped median is flat at the horizon and ranks nothing (L496).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669279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A9D8F"/>
                </a:solidFill>
                <a:latin typeface="Calibri"/>
              </a:rPr>
              <a:t>Fix: </a:t>
            </a:r>
            <a:r>
              <a:rPr sz="1300" b="0" i="0">
                <a:solidFill>
                  <a:srgbClr val="1F3B4D"/>
                </a:solidFill>
                <a:latin typeface="Calibri"/>
              </a:rPr>
              <a:t>restricted-mean TTP (W3b)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EEF3F5"/>
                </a:solidFill>
                <a:latin typeface="Calibri"/>
              </a:rPr>
              <a:t>Target: ICLR 2027 workshop — a clean negative is still the paper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20240"/>
            <a:ext cx="685800" cy="6858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2029968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promote 'no continuous-time edge on Tiers 0/1' — two valid closures (vs MLP, vs LSTM)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971800"/>
            <a:ext cx="685800" cy="6858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081528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irregular visits (20% / 50% dropped) — where continuous time has a mechanical reason to help; LSTM + Δt as the strong discrete baseline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023360"/>
            <a:ext cx="685800" cy="6858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4133088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mechanism shift — only if Hahnfeldt's day-7 resolution limit is fixed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5184648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write-up: validity across trainers, frontiers, the learned threshold rule, every run in one 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